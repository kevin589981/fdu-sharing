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sldIdLst>
    <p:sldId id="270" r:id="rId5"/>
    <p:sldId id="258" r:id="rId6"/>
    <p:sldId id="261" r:id="rId7"/>
    <p:sldId id="275" r:id="rId8"/>
    <p:sldId id="277" r:id="rId9"/>
    <p:sldId id="271" r:id="rId10"/>
    <p:sldId id="278" r:id="rId11"/>
    <p:sldId id="272" r:id="rId12"/>
    <p:sldId id="276" r:id="rId13"/>
    <p:sldId id="288" r:id="rId14"/>
    <p:sldId id="289" r:id="rId15"/>
    <p:sldId id="273" r:id="rId16"/>
    <p:sldId id="286" r:id="rId17"/>
    <p:sldId id="284" r:id="rId18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E7E0"/>
    <a:srgbClr val="FF8810"/>
    <a:srgbClr val="F5AEFB"/>
    <a:srgbClr val="7221C5"/>
    <a:srgbClr val="30B6AB"/>
    <a:srgbClr val="CAF4F2"/>
    <a:srgbClr val="BBF1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EBF95-7524-4BE8-B5D1-BCFF97C0E97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BE622-70A5-4CA9-A63D-B2F1056733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DFF72D-C568-4F1F-B324-36B67D32C9D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2FA54F-E42D-41F0-A8E6-0D2F8B8637C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8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87775" y="1750695"/>
            <a:ext cx="471360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</a:rPr>
              <a:t>现代生物科学导论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</a:endParaRPr>
          </a:p>
          <a:p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方正粗金陵简体" panose="02000000000000000000" charset="-122"/>
                <a:ea typeface="方正粗金陵简体" panose="02000000000000000000" charset="-122"/>
                <a:cs typeface="方正粗金陵简体" panose="02000000000000000000" charset="-122"/>
              </a:rPr>
              <a:t>有趣生命现象</a:t>
            </a:r>
            <a:endParaRPr lang="zh-CN" altLang="en-US" sz="3200" dirty="0">
              <a:solidFill>
                <a:schemeClr val="tx1">
                  <a:lumMod val="75000"/>
                  <a:lumOff val="25000"/>
                </a:schemeClr>
              </a:solidFill>
              <a:latin typeface="方正粗金陵简体" panose="02000000000000000000" charset="-122"/>
              <a:ea typeface="方正粗金陵简体" panose="02000000000000000000" charset="-122"/>
              <a:cs typeface="方正粗金陵简体" panose="020000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43630" y="2940685"/>
            <a:ext cx="66179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7200" dirty="0">
                <a:solidFill>
                  <a:srgbClr val="30B6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tyZHAO 新蒂赵孟頫" panose="03000600000000000000" charset="-122"/>
                <a:ea typeface="SentyZHAO 新蒂赵孟頫" panose="03000600000000000000" charset="-122"/>
              </a:rPr>
              <a:t>观猫毛色</a:t>
            </a:r>
            <a:r>
              <a:rPr lang="zh-CN" altLang="en-US" sz="7200" dirty="0">
                <a:solidFill>
                  <a:srgbClr val="30B6A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ntyZHAO 新蒂赵孟頫" panose="03000600000000000000" charset="-122"/>
                <a:ea typeface="SentyZHAO 新蒂赵孟頫" panose="03000600000000000000" charset="-122"/>
              </a:rPr>
              <a:t>知性别</a:t>
            </a:r>
            <a:endParaRPr lang="zh-CN" altLang="en-US" sz="7200" dirty="0">
              <a:solidFill>
                <a:srgbClr val="30B6AB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ntyZHAO 新蒂赵孟頫" panose="03000600000000000000" charset="-122"/>
              <a:ea typeface="SentyZHAO 新蒂赵孟頫" panose="030006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8410" y="2826796"/>
            <a:ext cx="32751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</a:rPr>
              <a:t>WORK SUMMARY REPORT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4003805" y="4139692"/>
            <a:ext cx="0" cy="508648"/>
          </a:xfrm>
          <a:prstGeom prst="line">
            <a:avLst/>
          </a:prstGeom>
          <a:ln w="38100">
            <a:solidFill>
              <a:srgbClr val="30B6A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4021455" y="4387850"/>
            <a:ext cx="307149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汇报时间：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2022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年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10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月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26</a:t>
            </a:r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+mn-ea"/>
                <a:sym typeface="+mn-ea"/>
              </a:rPr>
              <a:t>日</a:t>
            </a:r>
            <a:endParaRPr lang="zh-CN" altLang="en-US" sz="16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  <a:p>
            <a:endParaRPr lang="zh-CN" altLang="en-US" sz="16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021455" y="4084320"/>
            <a:ext cx="39096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汇报人：段雨鑫</a:t>
            </a: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ea"/>
              </a:rPr>
              <a:t>  22301020075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ea"/>
            </a:endParaRPr>
          </a:p>
        </p:txBody>
      </p:sp>
      <p:sp>
        <p:nvSpPr>
          <p:cNvPr id="10" name="TextBox 2"/>
          <p:cNvSpPr txBox="1">
            <a:spLocks noChangeArrowheads="1"/>
          </p:cNvSpPr>
          <p:nvPr/>
        </p:nvSpPr>
        <p:spPr bwMode="auto">
          <a:xfrm>
            <a:off x="8041214" y="6351588"/>
            <a:ext cx="3857625" cy="42989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eaLnBrk="1" hangingPunct="1">
              <a:defRPr/>
            </a:pPr>
            <a:endParaRPr lang="zh-CN" altLang="en-US" sz="1000" kern="1500" spc="1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defRPr/>
            </a:pP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/>
          <p:cNvSpPr txBox="1">
            <a:spLocks noChangeArrowheads="1"/>
          </p:cNvSpPr>
          <p:nvPr/>
        </p:nvSpPr>
        <p:spPr bwMode="auto">
          <a:xfrm>
            <a:off x="321945" y="304800"/>
            <a:ext cx="1435735" cy="3346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1900"/>
              </a:lnSpc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  <a:cs typeface="方正宋刻本秀楷简体" panose="02000000000000000000" charset="-122"/>
              </a:rPr>
              <a:t>目  录</a:t>
            </a:r>
            <a:endParaRPr lang="zh-CN" altLang="en-US" sz="2800" dirty="0">
              <a:solidFill>
                <a:srgbClr val="30B6AB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方正宋刻本秀楷简体" panose="02000000000000000000" charset="-122"/>
              <a:ea typeface="方正宋刻本秀楷简体" panose="02000000000000000000" charset="-122"/>
              <a:cs typeface="方正宋刻本秀楷简体" panose="02000000000000000000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3949595" y="2116258"/>
            <a:ext cx="1687845" cy="507001"/>
            <a:chOff x="7452710" y="2084604"/>
            <a:chExt cx="1687845" cy="507001"/>
          </a:xfrm>
        </p:grpSpPr>
        <p:sp>
          <p:nvSpPr>
            <p:cNvPr id="7" name="矩形 21"/>
            <p:cNvSpPr>
              <a:spLocks noChangeArrowheads="1"/>
            </p:cNvSpPr>
            <p:nvPr/>
          </p:nvSpPr>
          <p:spPr bwMode="auto">
            <a:xfrm>
              <a:off x="7454312" y="2084604"/>
              <a:ext cx="15544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猫的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毛色分类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452710" y="2331255"/>
              <a:ext cx="1687845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/>
                <a:t>Cat color classification</a:t>
              </a:r>
              <a:endParaRPr lang="zh-CN" altLang="en-US" sz="1100" dirty="0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228712" y="2239582"/>
            <a:ext cx="4287026" cy="214154"/>
            <a:chOff x="8619349" y="5714924"/>
            <a:chExt cx="2433319" cy="121554"/>
          </a:xfrm>
        </p:grpSpPr>
        <p:grpSp>
          <p:nvGrpSpPr>
            <p:cNvPr id="16" name="组合 15"/>
            <p:cNvGrpSpPr/>
            <p:nvPr/>
          </p:nvGrpSpPr>
          <p:grpSpPr>
            <a:xfrm rot="16200000">
              <a:off x="10866875" y="5650684"/>
              <a:ext cx="121554" cy="250033"/>
              <a:chOff x="-952500" y="928685"/>
              <a:chExt cx="473109" cy="973174"/>
            </a:xfrm>
          </p:grpSpPr>
          <p:sp>
            <p:nvSpPr>
              <p:cNvPr id="18" name="L 形 17"/>
              <p:cNvSpPr/>
              <p:nvPr/>
            </p:nvSpPr>
            <p:spPr>
              <a:xfrm rot="18955421">
                <a:off x="-952500" y="1428750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30B6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L 形 18"/>
              <p:cNvSpPr/>
              <p:nvPr/>
            </p:nvSpPr>
            <p:spPr>
              <a:xfrm rot="18955421">
                <a:off x="-952500" y="1176337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8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L 形 19"/>
              <p:cNvSpPr/>
              <p:nvPr/>
            </p:nvSpPr>
            <p:spPr>
              <a:xfrm rot="18955421">
                <a:off x="-952500" y="928685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17" name="直接连接符 16"/>
            <p:cNvCxnSpPr/>
            <p:nvPr/>
          </p:nvCxnSpPr>
          <p:spPr>
            <a:xfrm>
              <a:off x="8619349" y="5775700"/>
              <a:ext cx="200501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30B6AB">
                      <a:alpha val="0"/>
                    </a:srgbClr>
                  </a:gs>
                  <a:gs pos="100000">
                    <a:srgbClr val="30B6AB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/>
          <p:cNvSpPr txBox="1"/>
          <p:nvPr/>
        </p:nvSpPr>
        <p:spPr>
          <a:xfrm>
            <a:off x="7776479" y="2176198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0B6AB"/>
                </a:solidFill>
              </a:rPr>
              <a:t>01</a:t>
            </a:r>
            <a:endParaRPr lang="zh-CN" altLang="en-US" dirty="0">
              <a:solidFill>
                <a:srgbClr val="30B6AB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3959142" y="2838747"/>
            <a:ext cx="2927682" cy="506730"/>
            <a:chOff x="7452710" y="2084604"/>
            <a:chExt cx="2927682" cy="506730"/>
          </a:xfrm>
        </p:grpSpPr>
        <p:sp>
          <p:nvSpPr>
            <p:cNvPr id="23" name="矩形 21"/>
            <p:cNvSpPr>
              <a:spLocks noChangeArrowheads="1"/>
            </p:cNvSpPr>
            <p:nvPr/>
          </p:nvSpPr>
          <p:spPr bwMode="auto">
            <a:xfrm>
              <a:off x="7454312" y="2084604"/>
              <a:ext cx="29260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三花和玳瑁猫为何多为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雌性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452710" y="2330984"/>
              <a:ext cx="212090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/>
                <a:t>Why tortoiseshell cat</a:t>
              </a:r>
              <a:r>
                <a:rPr lang="en-US" altLang="zh-CN" sz="1100" dirty="0"/>
                <a:t>s are grils</a:t>
              </a:r>
              <a:endParaRPr lang="en-US" altLang="zh-CN" sz="1100" dirty="0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4200159" y="2962071"/>
            <a:ext cx="4287026" cy="214154"/>
            <a:chOff x="8619349" y="5714924"/>
            <a:chExt cx="2433319" cy="121554"/>
          </a:xfrm>
        </p:grpSpPr>
        <p:grpSp>
          <p:nvGrpSpPr>
            <p:cNvPr id="26" name="组合 25"/>
            <p:cNvGrpSpPr/>
            <p:nvPr/>
          </p:nvGrpSpPr>
          <p:grpSpPr>
            <a:xfrm rot="16200000">
              <a:off x="10866875" y="5650684"/>
              <a:ext cx="121554" cy="250033"/>
              <a:chOff x="-952500" y="928685"/>
              <a:chExt cx="473109" cy="973174"/>
            </a:xfrm>
          </p:grpSpPr>
          <p:sp>
            <p:nvSpPr>
              <p:cNvPr id="28" name="L 形 27"/>
              <p:cNvSpPr/>
              <p:nvPr/>
            </p:nvSpPr>
            <p:spPr>
              <a:xfrm rot="18955421">
                <a:off x="-952500" y="1428750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30B6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9" name="L 形 28"/>
              <p:cNvSpPr/>
              <p:nvPr/>
            </p:nvSpPr>
            <p:spPr>
              <a:xfrm rot="18955421">
                <a:off x="-952500" y="1176337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8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0" name="L 形 29"/>
              <p:cNvSpPr/>
              <p:nvPr/>
            </p:nvSpPr>
            <p:spPr>
              <a:xfrm rot="18955421">
                <a:off x="-952500" y="928685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27" name="直接连接符 26"/>
            <p:cNvCxnSpPr/>
            <p:nvPr/>
          </p:nvCxnSpPr>
          <p:spPr>
            <a:xfrm>
              <a:off x="8619349" y="5775700"/>
              <a:ext cx="200501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30B6AB">
                      <a:alpha val="0"/>
                    </a:srgbClr>
                  </a:gs>
                  <a:gs pos="100000">
                    <a:srgbClr val="30B6AB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文本框 30"/>
          <p:cNvSpPr txBox="1"/>
          <p:nvPr/>
        </p:nvSpPr>
        <p:spPr>
          <a:xfrm>
            <a:off x="7747926" y="289868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0B6AB"/>
                </a:solidFill>
              </a:rPr>
              <a:t>02</a:t>
            </a:r>
            <a:endParaRPr lang="zh-CN" altLang="en-US" dirty="0">
              <a:solidFill>
                <a:srgbClr val="30B6AB"/>
              </a:solidFill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3949617" y="3549550"/>
            <a:ext cx="3788410" cy="506730"/>
            <a:chOff x="7452710" y="2084604"/>
            <a:chExt cx="3788410" cy="506730"/>
          </a:xfrm>
        </p:grpSpPr>
        <p:sp>
          <p:nvSpPr>
            <p:cNvPr id="33" name="矩形 21"/>
            <p:cNvSpPr>
              <a:spLocks noChangeArrowheads="1"/>
            </p:cNvSpPr>
            <p:nvPr/>
          </p:nvSpPr>
          <p:spPr bwMode="auto">
            <a:xfrm>
              <a:off x="7454312" y="2084604"/>
              <a:ext cx="33832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猫毛色与性别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关系的生物学</a:t>
              </a: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解释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452710" y="2330984"/>
              <a:ext cx="3788410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/>
                <a:t>Biological explanation of relationship between color and sex</a:t>
              </a:r>
              <a:endParaRPr lang="zh-CN" altLang="en-US" sz="1100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190634" y="3672874"/>
            <a:ext cx="4287026" cy="214154"/>
            <a:chOff x="8619349" y="5714924"/>
            <a:chExt cx="2433319" cy="121554"/>
          </a:xfrm>
        </p:grpSpPr>
        <p:grpSp>
          <p:nvGrpSpPr>
            <p:cNvPr id="36" name="组合 35"/>
            <p:cNvGrpSpPr/>
            <p:nvPr/>
          </p:nvGrpSpPr>
          <p:grpSpPr>
            <a:xfrm rot="16200000">
              <a:off x="10866875" y="5650684"/>
              <a:ext cx="121554" cy="250033"/>
              <a:chOff x="-952500" y="928685"/>
              <a:chExt cx="473109" cy="973174"/>
            </a:xfrm>
          </p:grpSpPr>
          <p:sp>
            <p:nvSpPr>
              <p:cNvPr id="38" name="L 形 37"/>
              <p:cNvSpPr/>
              <p:nvPr/>
            </p:nvSpPr>
            <p:spPr>
              <a:xfrm rot="18955421">
                <a:off x="-952500" y="1428750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30B6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9" name="L 形 38"/>
              <p:cNvSpPr/>
              <p:nvPr/>
            </p:nvSpPr>
            <p:spPr>
              <a:xfrm rot="18955421">
                <a:off x="-952500" y="1176337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8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L 形 39"/>
              <p:cNvSpPr/>
              <p:nvPr/>
            </p:nvSpPr>
            <p:spPr>
              <a:xfrm rot="18955421">
                <a:off x="-952500" y="928685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37" name="直接连接符 36"/>
            <p:cNvCxnSpPr/>
            <p:nvPr/>
          </p:nvCxnSpPr>
          <p:spPr>
            <a:xfrm>
              <a:off x="8619349" y="5775700"/>
              <a:ext cx="200501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30B6AB">
                      <a:alpha val="0"/>
                    </a:srgbClr>
                  </a:gs>
                  <a:gs pos="100000">
                    <a:srgbClr val="30B6AB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文本框 40"/>
          <p:cNvSpPr txBox="1"/>
          <p:nvPr/>
        </p:nvSpPr>
        <p:spPr>
          <a:xfrm>
            <a:off x="7738401" y="3609490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0B6AB"/>
                </a:solidFill>
              </a:rPr>
              <a:t>03</a:t>
            </a:r>
            <a:endParaRPr lang="zh-CN" altLang="en-US" dirty="0">
              <a:solidFill>
                <a:srgbClr val="30B6AB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>
            <a:off x="3949639" y="4281564"/>
            <a:ext cx="2301875" cy="506730"/>
            <a:chOff x="7452710" y="2084604"/>
            <a:chExt cx="2301875" cy="506730"/>
          </a:xfrm>
        </p:grpSpPr>
        <p:sp>
          <p:nvSpPr>
            <p:cNvPr id="43" name="矩形 21"/>
            <p:cNvSpPr>
              <a:spLocks noChangeArrowheads="1"/>
            </p:cNvSpPr>
            <p:nvPr/>
          </p:nvSpPr>
          <p:spPr bwMode="auto">
            <a:xfrm>
              <a:off x="7454312" y="2084604"/>
              <a:ext cx="178308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相关资料与文献</a:t>
              </a:r>
              <a:endParaRPr lang="zh-CN" altLang="en-US" sz="18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452710" y="2330984"/>
              <a:ext cx="2301875" cy="2603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/>
                <a:t>Relevant data and literature</a:t>
              </a:r>
              <a:endParaRPr lang="zh-CN" altLang="en-US" sz="1100" dirty="0"/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4162081" y="4395363"/>
            <a:ext cx="4287026" cy="214154"/>
            <a:chOff x="8619349" y="5714924"/>
            <a:chExt cx="2433319" cy="121554"/>
          </a:xfrm>
        </p:grpSpPr>
        <p:grpSp>
          <p:nvGrpSpPr>
            <p:cNvPr id="46" name="组合 45"/>
            <p:cNvGrpSpPr/>
            <p:nvPr/>
          </p:nvGrpSpPr>
          <p:grpSpPr>
            <a:xfrm rot="16200000">
              <a:off x="10866875" y="5650684"/>
              <a:ext cx="121554" cy="250033"/>
              <a:chOff x="-952500" y="928685"/>
              <a:chExt cx="473109" cy="973174"/>
            </a:xfrm>
          </p:grpSpPr>
          <p:sp>
            <p:nvSpPr>
              <p:cNvPr id="48" name="L 形 47"/>
              <p:cNvSpPr/>
              <p:nvPr/>
            </p:nvSpPr>
            <p:spPr>
              <a:xfrm rot="18955421">
                <a:off x="-952500" y="1428750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30B6A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L 形 48"/>
              <p:cNvSpPr/>
              <p:nvPr/>
            </p:nvSpPr>
            <p:spPr>
              <a:xfrm rot="18955421">
                <a:off x="-952500" y="1176337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8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L 形 49"/>
              <p:cNvSpPr/>
              <p:nvPr/>
            </p:nvSpPr>
            <p:spPr>
              <a:xfrm rot="18955421">
                <a:off x="-952500" y="928685"/>
                <a:ext cx="473109" cy="473109"/>
              </a:xfrm>
              <a:prstGeom prst="corner">
                <a:avLst>
                  <a:gd name="adj1" fmla="val 19801"/>
                  <a:gd name="adj2" fmla="val 17788"/>
                </a:avLst>
              </a:prstGeom>
              <a:solidFill>
                <a:srgbClr val="90E7E0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cxnSp>
          <p:nvCxnSpPr>
            <p:cNvPr id="47" name="直接连接符 46"/>
            <p:cNvCxnSpPr/>
            <p:nvPr/>
          </p:nvCxnSpPr>
          <p:spPr>
            <a:xfrm>
              <a:off x="8619349" y="5775700"/>
              <a:ext cx="2005013" cy="0"/>
            </a:xfrm>
            <a:prstGeom prst="line">
              <a:avLst/>
            </a:prstGeom>
            <a:ln>
              <a:gradFill flip="none" rotWithShape="1">
                <a:gsLst>
                  <a:gs pos="0">
                    <a:srgbClr val="30B6AB">
                      <a:alpha val="0"/>
                    </a:srgbClr>
                  </a:gs>
                  <a:gs pos="100000">
                    <a:srgbClr val="30B6AB"/>
                  </a:gs>
                </a:gsLst>
                <a:lin ang="0" scaled="1"/>
                <a:tileRect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" name="文本框 50"/>
          <p:cNvSpPr txBox="1"/>
          <p:nvPr/>
        </p:nvSpPr>
        <p:spPr>
          <a:xfrm>
            <a:off x="7709848" y="4331979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30B6AB"/>
                </a:solidFill>
              </a:rPr>
              <a:t>04</a:t>
            </a:r>
            <a:endParaRPr lang="zh-CN" altLang="en-US" dirty="0">
              <a:solidFill>
                <a:srgbClr val="30B6AB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06254" y="2552700"/>
            <a:ext cx="7349469" cy="1676400"/>
            <a:chOff x="1286829" y="2300632"/>
            <a:chExt cx="7349469" cy="1676400"/>
          </a:xfrm>
        </p:grpSpPr>
        <p:grpSp>
          <p:nvGrpSpPr>
            <p:cNvPr id="5" name="组合 308"/>
            <p:cNvGrpSpPr/>
            <p:nvPr/>
          </p:nvGrpSpPr>
          <p:grpSpPr>
            <a:xfrm>
              <a:off x="2389485" y="2490486"/>
              <a:ext cx="6246813" cy="1410346"/>
              <a:chOff x="7922220" y="4961921"/>
              <a:chExt cx="12493625" cy="2820691"/>
            </a:xfrm>
          </p:grpSpPr>
          <p:sp>
            <p:nvSpPr>
              <p:cNvPr id="7" name="Object 309"/>
              <p:cNvSpPr txBox="1"/>
              <p:nvPr/>
            </p:nvSpPr>
            <p:spPr>
              <a:xfrm>
                <a:off x="7922220" y="4961921"/>
                <a:ext cx="12493625" cy="18288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猫的</a:t>
                </a: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毛色分类</a:t>
                </a:r>
                <a:endParaRPr lang="zh-CN" altLang="en-US" sz="40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Object 3010"/>
              <p:cNvSpPr txBox="1"/>
              <p:nvPr/>
            </p:nvSpPr>
            <p:spPr>
              <a:xfrm>
                <a:off x="8002166" y="6792012"/>
                <a:ext cx="7569199" cy="9906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>
                <a:lvl1pPr>
                  <a:lnSpc>
                    <a:spcPct val="111000"/>
                  </a:lnSpc>
                  <a:defRPr sz="3000" b="0" i="0">
                    <a:solidFill>
                      <a:schemeClr val="bg1">
                        <a:lumMod val="75000"/>
                      </a:schemeClr>
                    </a:solidFill>
                    <a:cs typeface="+mn-ea"/>
                  </a:defRPr>
                </a:lvl1pPr>
              </a:lstStyle>
              <a:p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漫步校园，与萌宠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“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校猫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”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不期而遇，让我们一起来看看这些可爱的新朋友吧！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9" name="Object 3011"/>
              <p:cNvSpPr txBox="1"/>
              <p:nvPr/>
            </p:nvSpPr>
            <p:spPr>
              <a:xfrm>
                <a:off x="8002166" y="6233611"/>
                <a:ext cx="8359033" cy="6350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1600" dirty="0">
                    <a:solidFill>
                      <a:srgbClr val="30B6AB"/>
                    </a:solidFill>
                    <a:cs typeface="+mn-ea"/>
                    <a:sym typeface="+mn-lt"/>
                  </a:rPr>
                  <a:t>Cat color classification</a:t>
                </a:r>
                <a:endParaRPr lang="zh-CN" altLang="en-US" sz="1600" dirty="0"/>
              </a:p>
              <a:p>
                <a:pPr algn="l">
                  <a:lnSpc>
                    <a:spcPct val="100000"/>
                  </a:lnSpc>
                </a:pPr>
                <a:endParaRPr lang="en-US" altLang="zh-CN" sz="16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" name="Object 307"/>
            <p:cNvSpPr txBox="1"/>
            <p:nvPr/>
          </p:nvSpPr>
          <p:spPr>
            <a:xfrm>
              <a:off x="1286829" y="2300632"/>
              <a:ext cx="1629256" cy="1676400"/>
            </a:xfrm>
            <a:prstGeom prst="rect">
              <a:avLst/>
            </a:prstGeom>
          </p:spPr>
          <p:txBody>
            <a:bodyPr vert="horz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0000" dirty="0">
                  <a:solidFill>
                    <a:srgbClr val="30B6AB"/>
                  </a:solidFill>
                  <a:latin typeface="Agency FB" panose="020B0503020202020204" pitchFamily="34" charset="0"/>
                  <a:cs typeface="Agency FB" panose="020B0503020202020204" pitchFamily="34" charset="0"/>
                  <a:sym typeface="+mn-lt"/>
                </a:rPr>
                <a:t>01</a:t>
              </a:r>
              <a:endParaRPr lang="en-US" altLang="zh-CN" sz="10000" dirty="0">
                <a:solidFill>
                  <a:srgbClr val="30B6AB"/>
                </a:solidFill>
                <a:latin typeface="Agency FB" panose="020B0503020202020204" pitchFamily="34" charset="0"/>
                <a:cs typeface="Agency FB" panose="020B0503020202020204" pitchFamily="34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val 5"/>
          <p:cNvSpPr>
            <a:spLocks noChangeAspect="1"/>
          </p:cNvSpPr>
          <p:nvPr/>
        </p:nvSpPr>
        <p:spPr>
          <a:xfrm>
            <a:off x="824230" y="792480"/>
            <a:ext cx="3387090" cy="3387090"/>
          </a:xfrm>
          <a:prstGeom prst="ellipse">
            <a:avLst/>
          </a:prstGeom>
          <a:blipFill rotWithShape="1">
            <a:blip r:embed="rId1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13995" y="228600"/>
            <a:ext cx="163893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</a:rPr>
              <a:t>猫咪大赏</a:t>
            </a:r>
            <a:endParaRPr lang="zh-CN" altLang="en-US" sz="2800" dirty="0">
              <a:solidFill>
                <a:srgbClr val="30B6AB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方正宋刻本秀楷简体" panose="02000000000000000000" charset="-122"/>
              <a:ea typeface="方正宋刻本秀楷简体" panose="02000000000000000000" charset="-122"/>
            </a:endParaRPr>
          </a:p>
        </p:txBody>
      </p:sp>
      <p:sp>
        <p:nvSpPr>
          <p:cNvPr id="19" name="Oval 5"/>
          <p:cNvSpPr>
            <a:spLocks noChangeAspect="1"/>
          </p:cNvSpPr>
          <p:nvPr/>
        </p:nvSpPr>
        <p:spPr>
          <a:xfrm>
            <a:off x="8347710" y="1394460"/>
            <a:ext cx="3551555" cy="355155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7" name="Oval 5"/>
          <p:cNvSpPr>
            <a:spLocks noChangeAspect="1"/>
          </p:cNvSpPr>
          <p:nvPr/>
        </p:nvSpPr>
        <p:spPr>
          <a:xfrm>
            <a:off x="4017645" y="372110"/>
            <a:ext cx="4942205" cy="494220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6391910" y="3556000"/>
            <a:ext cx="3100705" cy="310070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90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" name="Oval 5"/>
          <p:cNvSpPr>
            <a:spLocks noChangeAspect="1"/>
          </p:cNvSpPr>
          <p:nvPr/>
        </p:nvSpPr>
        <p:spPr>
          <a:xfrm>
            <a:off x="1788795" y="2639060"/>
            <a:ext cx="3904615" cy="39046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sz="90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5" grpId="0" animBg="1"/>
      <p:bldP spid="5" grpId="1" animBg="1"/>
      <p:bldP spid="17" grpId="0" animBg="1"/>
      <p:bldP spid="17" grpId="1" animBg="1"/>
      <p:bldP spid="19" grpId="0" animBg="1"/>
      <p:bldP spid="19" grpId="1" animBg="1"/>
      <p:bldP spid="6" grpId="0" animBg="1"/>
      <p:bldP spid="6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21"/>
          <p:cNvSpPr>
            <a:spLocks noChangeArrowheads="1"/>
          </p:cNvSpPr>
          <p:nvPr/>
        </p:nvSpPr>
        <p:spPr bwMode="auto">
          <a:xfrm>
            <a:off x="1273810" y="3834765"/>
            <a:ext cx="3467735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dirty="0">
                <a:latin typeface="方正颜宋简体" panose="02000000000000000000" charset="-122"/>
                <a:ea typeface="方正颜宋简体" panose="02000000000000000000" charset="-122"/>
              </a:rPr>
              <a:t>虎斑纹路</a:t>
            </a:r>
            <a:endParaRPr lang="en-US" altLang="zh-CN" sz="2000" dirty="0">
              <a:latin typeface="方正颜宋简体" panose="02000000000000000000" charset="-122"/>
              <a:ea typeface="方正颜宋简体" panose="02000000000000000000" charset="-122"/>
              <a:sym typeface="+mn-ea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34361" y="160338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</a:rPr>
              <a:t>毛色分类</a:t>
            </a:r>
            <a:endParaRPr lang="zh-CN" altLang="en-US" sz="2800" dirty="0">
              <a:solidFill>
                <a:srgbClr val="30B6AB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方正宋刻本秀楷简体" panose="02000000000000000000" charset="-122"/>
              <a:ea typeface="方正宋刻本秀楷简体" panose="02000000000000000000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1273758" y="1654693"/>
            <a:ext cx="9718912" cy="4014440"/>
            <a:chOff x="1236545" y="1421780"/>
            <a:chExt cx="9718912" cy="4014440"/>
          </a:xfrm>
        </p:grpSpPr>
        <p:sp>
          <p:nvSpPr>
            <p:cNvPr id="17" name="任意多边形: 形状 16"/>
            <p:cNvSpPr/>
            <p:nvPr/>
          </p:nvSpPr>
          <p:spPr>
            <a:xfrm>
              <a:off x="1236545" y="1421780"/>
              <a:ext cx="4361367" cy="1834376"/>
            </a:xfrm>
            <a:custGeom>
              <a:avLst/>
              <a:gdLst>
                <a:gd name="connsiteX0" fmla="*/ 128076 w 4361367"/>
                <a:gd name="connsiteY0" fmla="*/ 0 h 1834376"/>
                <a:gd name="connsiteX1" fmla="*/ 4233291 w 4361367"/>
                <a:gd name="connsiteY1" fmla="*/ 0 h 1834376"/>
                <a:gd name="connsiteX2" fmla="*/ 4361367 w 4361367"/>
                <a:gd name="connsiteY2" fmla="*/ 128076 h 1834376"/>
                <a:gd name="connsiteX3" fmla="*/ 4361367 w 4361367"/>
                <a:gd name="connsiteY3" fmla="*/ 917833 h 1834376"/>
                <a:gd name="connsiteX4" fmla="*/ 4288058 w 4361367"/>
                <a:gd name="connsiteY4" fmla="*/ 953147 h 1834376"/>
                <a:gd name="connsiteX5" fmla="*/ 3685055 w 4361367"/>
                <a:gd name="connsiteY5" fmla="*/ 1765629 h 1834376"/>
                <a:gd name="connsiteX6" fmla="*/ 3678124 w 4361367"/>
                <a:gd name="connsiteY6" fmla="*/ 1834376 h 1834376"/>
                <a:gd name="connsiteX7" fmla="*/ 128076 w 4361367"/>
                <a:gd name="connsiteY7" fmla="*/ 1834376 h 1834376"/>
                <a:gd name="connsiteX8" fmla="*/ 0 w 4361367"/>
                <a:gd name="connsiteY8" fmla="*/ 1706300 h 1834376"/>
                <a:gd name="connsiteX9" fmla="*/ 0 w 4361367"/>
                <a:gd name="connsiteY9" fmla="*/ 128076 h 1834376"/>
                <a:gd name="connsiteX10" fmla="*/ 128076 w 4361367"/>
                <a:gd name="connsiteY10" fmla="*/ 0 h 183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1367" h="1834376">
                  <a:moveTo>
                    <a:pt x="128076" y="0"/>
                  </a:moveTo>
                  <a:lnTo>
                    <a:pt x="4233291" y="0"/>
                  </a:lnTo>
                  <a:cubicBezTo>
                    <a:pt x="4304025" y="0"/>
                    <a:pt x="4361367" y="57342"/>
                    <a:pt x="4361367" y="128076"/>
                  </a:cubicBezTo>
                  <a:lnTo>
                    <a:pt x="4361367" y="917833"/>
                  </a:lnTo>
                  <a:lnTo>
                    <a:pt x="4288058" y="953147"/>
                  </a:lnTo>
                  <a:cubicBezTo>
                    <a:pt x="3982318" y="1119235"/>
                    <a:pt x="3756913" y="1414466"/>
                    <a:pt x="3685055" y="1765629"/>
                  </a:cubicBezTo>
                  <a:lnTo>
                    <a:pt x="3678124" y="1834376"/>
                  </a:lnTo>
                  <a:lnTo>
                    <a:pt x="128076" y="1834376"/>
                  </a:lnTo>
                  <a:cubicBezTo>
                    <a:pt x="57342" y="1834376"/>
                    <a:pt x="0" y="1777034"/>
                    <a:pt x="0" y="1706300"/>
                  </a:cubicBezTo>
                  <a:lnTo>
                    <a:pt x="0" y="128076"/>
                  </a:lnTo>
                  <a:cubicBezTo>
                    <a:pt x="0" y="57342"/>
                    <a:pt x="57342" y="0"/>
                    <a:pt x="128076" y="0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30B6AB"/>
              </a:solidFill>
              <a:prstDash val="solid"/>
              <a:miter lim="800000"/>
            </a:ln>
            <a:effectLst>
              <a:outerShdw blurRad="508000" dist="38100" dir="2700000" algn="tl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1236545" y="3601844"/>
              <a:ext cx="4361367" cy="1834376"/>
            </a:xfrm>
            <a:custGeom>
              <a:avLst/>
              <a:gdLst>
                <a:gd name="connsiteX0" fmla="*/ 128076 w 4361367"/>
                <a:gd name="connsiteY0" fmla="*/ 0 h 1834376"/>
                <a:gd name="connsiteX1" fmla="*/ 3678124 w 4361367"/>
                <a:gd name="connsiteY1" fmla="*/ 0 h 1834376"/>
                <a:gd name="connsiteX2" fmla="*/ 3685055 w 4361367"/>
                <a:gd name="connsiteY2" fmla="*/ 68747 h 1834376"/>
                <a:gd name="connsiteX3" fmla="*/ 4288058 w 4361367"/>
                <a:gd name="connsiteY3" fmla="*/ 881229 h 1834376"/>
                <a:gd name="connsiteX4" fmla="*/ 4361367 w 4361367"/>
                <a:gd name="connsiteY4" fmla="*/ 916544 h 1834376"/>
                <a:gd name="connsiteX5" fmla="*/ 4361367 w 4361367"/>
                <a:gd name="connsiteY5" fmla="*/ 1706300 h 1834376"/>
                <a:gd name="connsiteX6" fmla="*/ 4233291 w 4361367"/>
                <a:gd name="connsiteY6" fmla="*/ 1834376 h 1834376"/>
                <a:gd name="connsiteX7" fmla="*/ 128076 w 4361367"/>
                <a:gd name="connsiteY7" fmla="*/ 1834376 h 1834376"/>
                <a:gd name="connsiteX8" fmla="*/ 0 w 4361367"/>
                <a:gd name="connsiteY8" fmla="*/ 1706300 h 1834376"/>
                <a:gd name="connsiteX9" fmla="*/ 0 w 4361367"/>
                <a:gd name="connsiteY9" fmla="*/ 128076 h 1834376"/>
                <a:gd name="connsiteX10" fmla="*/ 128076 w 4361367"/>
                <a:gd name="connsiteY10" fmla="*/ 0 h 183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1367" h="1834376">
                  <a:moveTo>
                    <a:pt x="128076" y="0"/>
                  </a:moveTo>
                  <a:lnTo>
                    <a:pt x="3678124" y="0"/>
                  </a:lnTo>
                  <a:lnTo>
                    <a:pt x="3685055" y="68747"/>
                  </a:lnTo>
                  <a:cubicBezTo>
                    <a:pt x="3756913" y="419910"/>
                    <a:pt x="3982318" y="715141"/>
                    <a:pt x="4288058" y="881229"/>
                  </a:cubicBezTo>
                  <a:lnTo>
                    <a:pt x="4361367" y="916544"/>
                  </a:lnTo>
                  <a:lnTo>
                    <a:pt x="4361367" y="1706300"/>
                  </a:lnTo>
                  <a:cubicBezTo>
                    <a:pt x="4361367" y="1777034"/>
                    <a:pt x="4304025" y="1834376"/>
                    <a:pt x="4233291" y="1834376"/>
                  </a:cubicBezTo>
                  <a:lnTo>
                    <a:pt x="128076" y="1834376"/>
                  </a:lnTo>
                  <a:cubicBezTo>
                    <a:pt x="57342" y="1834376"/>
                    <a:pt x="0" y="1777034"/>
                    <a:pt x="0" y="1706300"/>
                  </a:cubicBezTo>
                  <a:lnTo>
                    <a:pt x="0" y="128076"/>
                  </a:lnTo>
                  <a:cubicBezTo>
                    <a:pt x="0" y="57342"/>
                    <a:pt x="57342" y="0"/>
                    <a:pt x="128076" y="0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90E7E0"/>
              </a:solidFill>
              <a:prstDash val="solid"/>
              <a:miter lim="800000"/>
            </a:ln>
            <a:effectLst>
              <a:outerShdw blurRad="508000" dist="38100" dir="2700000" algn="tl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19" name="任意多边形: 形状 18"/>
            <p:cNvSpPr/>
            <p:nvPr/>
          </p:nvSpPr>
          <p:spPr>
            <a:xfrm>
              <a:off x="6594090" y="1421780"/>
              <a:ext cx="4361367" cy="1834376"/>
            </a:xfrm>
            <a:custGeom>
              <a:avLst/>
              <a:gdLst>
                <a:gd name="connsiteX0" fmla="*/ 128076 w 4361367"/>
                <a:gd name="connsiteY0" fmla="*/ 0 h 1834376"/>
                <a:gd name="connsiteX1" fmla="*/ 4233291 w 4361367"/>
                <a:gd name="connsiteY1" fmla="*/ 0 h 1834376"/>
                <a:gd name="connsiteX2" fmla="*/ 4361367 w 4361367"/>
                <a:gd name="connsiteY2" fmla="*/ 128076 h 1834376"/>
                <a:gd name="connsiteX3" fmla="*/ 4361367 w 4361367"/>
                <a:gd name="connsiteY3" fmla="*/ 1706300 h 1834376"/>
                <a:gd name="connsiteX4" fmla="*/ 4233291 w 4361367"/>
                <a:gd name="connsiteY4" fmla="*/ 1834376 h 1834376"/>
                <a:gd name="connsiteX5" fmla="*/ 683243 w 4361367"/>
                <a:gd name="connsiteY5" fmla="*/ 1834376 h 1834376"/>
                <a:gd name="connsiteX6" fmla="*/ 676313 w 4361367"/>
                <a:gd name="connsiteY6" fmla="*/ 1765629 h 1834376"/>
                <a:gd name="connsiteX7" fmla="*/ 73310 w 4361367"/>
                <a:gd name="connsiteY7" fmla="*/ 953147 h 1834376"/>
                <a:gd name="connsiteX8" fmla="*/ 0 w 4361367"/>
                <a:gd name="connsiteY8" fmla="*/ 917832 h 1834376"/>
                <a:gd name="connsiteX9" fmla="*/ 0 w 4361367"/>
                <a:gd name="connsiteY9" fmla="*/ 128076 h 1834376"/>
                <a:gd name="connsiteX10" fmla="*/ 128076 w 4361367"/>
                <a:gd name="connsiteY10" fmla="*/ 0 h 183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361367" h="1834376">
                  <a:moveTo>
                    <a:pt x="128076" y="0"/>
                  </a:moveTo>
                  <a:lnTo>
                    <a:pt x="4233291" y="0"/>
                  </a:lnTo>
                  <a:cubicBezTo>
                    <a:pt x="4304025" y="0"/>
                    <a:pt x="4361367" y="57342"/>
                    <a:pt x="4361367" y="128076"/>
                  </a:cubicBezTo>
                  <a:lnTo>
                    <a:pt x="4361367" y="1706300"/>
                  </a:lnTo>
                  <a:cubicBezTo>
                    <a:pt x="4361367" y="1777034"/>
                    <a:pt x="4304025" y="1834376"/>
                    <a:pt x="4233291" y="1834376"/>
                  </a:cubicBezTo>
                  <a:lnTo>
                    <a:pt x="683243" y="1834376"/>
                  </a:lnTo>
                  <a:lnTo>
                    <a:pt x="676313" y="1765629"/>
                  </a:lnTo>
                  <a:cubicBezTo>
                    <a:pt x="604455" y="1414466"/>
                    <a:pt x="379050" y="1119235"/>
                    <a:pt x="73310" y="953147"/>
                  </a:cubicBezTo>
                  <a:lnTo>
                    <a:pt x="0" y="917832"/>
                  </a:lnTo>
                  <a:lnTo>
                    <a:pt x="0" y="128076"/>
                  </a:lnTo>
                  <a:cubicBezTo>
                    <a:pt x="0" y="57342"/>
                    <a:pt x="57342" y="0"/>
                    <a:pt x="128076" y="0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90E7E0"/>
              </a:solidFill>
              <a:prstDash val="solid"/>
              <a:miter lim="800000"/>
            </a:ln>
            <a:effectLst>
              <a:outerShdw blurRad="508000" dist="38100" dir="2700000" algn="tl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0" name="任意多边形: 形状 19"/>
            <p:cNvSpPr/>
            <p:nvPr/>
          </p:nvSpPr>
          <p:spPr>
            <a:xfrm>
              <a:off x="6594090" y="3601844"/>
              <a:ext cx="4361367" cy="1834376"/>
            </a:xfrm>
            <a:custGeom>
              <a:avLst/>
              <a:gdLst>
                <a:gd name="connsiteX0" fmla="*/ 683243 w 4361367"/>
                <a:gd name="connsiteY0" fmla="*/ 0 h 1834376"/>
                <a:gd name="connsiteX1" fmla="*/ 4233291 w 4361367"/>
                <a:gd name="connsiteY1" fmla="*/ 0 h 1834376"/>
                <a:gd name="connsiteX2" fmla="*/ 4361367 w 4361367"/>
                <a:gd name="connsiteY2" fmla="*/ 128076 h 1834376"/>
                <a:gd name="connsiteX3" fmla="*/ 4361367 w 4361367"/>
                <a:gd name="connsiteY3" fmla="*/ 1706300 h 1834376"/>
                <a:gd name="connsiteX4" fmla="*/ 4233291 w 4361367"/>
                <a:gd name="connsiteY4" fmla="*/ 1834376 h 1834376"/>
                <a:gd name="connsiteX5" fmla="*/ 128076 w 4361367"/>
                <a:gd name="connsiteY5" fmla="*/ 1834376 h 1834376"/>
                <a:gd name="connsiteX6" fmla="*/ 0 w 4361367"/>
                <a:gd name="connsiteY6" fmla="*/ 1706300 h 1834376"/>
                <a:gd name="connsiteX7" fmla="*/ 0 w 4361367"/>
                <a:gd name="connsiteY7" fmla="*/ 916544 h 1834376"/>
                <a:gd name="connsiteX8" fmla="*/ 73310 w 4361367"/>
                <a:gd name="connsiteY8" fmla="*/ 881229 h 1834376"/>
                <a:gd name="connsiteX9" fmla="*/ 676313 w 4361367"/>
                <a:gd name="connsiteY9" fmla="*/ 68747 h 1834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361367" h="1834376">
                  <a:moveTo>
                    <a:pt x="683243" y="0"/>
                  </a:moveTo>
                  <a:lnTo>
                    <a:pt x="4233291" y="0"/>
                  </a:lnTo>
                  <a:cubicBezTo>
                    <a:pt x="4304025" y="0"/>
                    <a:pt x="4361367" y="57342"/>
                    <a:pt x="4361367" y="128076"/>
                  </a:cubicBezTo>
                  <a:lnTo>
                    <a:pt x="4361367" y="1706300"/>
                  </a:lnTo>
                  <a:cubicBezTo>
                    <a:pt x="4361367" y="1777034"/>
                    <a:pt x="4304025" y="1834376"/>
                    <a:pt x="4233291" y="1834376"/>
                  </a:cubicBezTo>
                  <a:lnTo>
                    <a:pt x="128076" y="1834376"/>
                  </a:lnTo>
                  <a:cubicBezTo>
                    <a:pt x="57342" y="1834376"/>
                    <a:pt x="0" y="1777034"/>
                    <a:pt x="0" y="1706300"/>
                  </a:cubicBezTo>
                  <a:lnTo>
                    <a:pt x="0" y="916544"/>
                  </a:lnTo>
                  <a:lnTo>
                    <a:pt x="73310" y="881229"/>
                  </a:lnTo>
                  <a:cubicBezTo>
                    <a:pt x="379050" y="715141"/>
                    <a:pt x="604455" y="419910"/>
                    <a:pt x="676313" y="68747"/>
                  </a:cubicBezTo>
                  <a:close/>
                </a:path>
              </a:pathLst>
            </a:custGeom>
            <a:noFill/>
            <a:ln w="12700" cap="flat" cmpd="sng" algn="ctr">
              <a:solidFill>
                <a:srgbClr val="30B6AB"/>
              </a:solidFill>
              <a:prstDash val="solid"/>
              <a:miter lim="800000"/>
            </a:ln>
            <a:effectLst>
              <a:outerShdw blurRad="508000" dist="38100" dir="2700000" algn="tl" rotWithShape="0">
                <a:schemeClr val="accent1">
                  <a:alpha val="34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5042211" y="2375210"/>
              <a:ext cx="2107580" cy="2107580"/>
            </a:xfrm>
            <a:prstGeom prst="ellipse">
              <a:avLst/>
            </a:prstGeom>
            <a:blipFill>
              <a:blip r:embed="rId1"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22" name="文本框 45"/>
            <p:cNvSpPr txBox="1"/>
            <p:nvPr/>
          </p:nvSpPr>
          <p:spPr>
            <a:xfrm>
              <a:off x="5281495" y="2988960"/>
              <a:ext cx="1629410" cy="98488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3200" dirty="0">
                  <a:solidFill>
                    <a:schemeClr val="bg1"/>
                  </a:solidFill>
                  <a:latin typeface="方正粗金陵简体" panose="02000000000000000000" charset="-122"/>
                  <a:ea typeface="方正粗金陵简体" panose="02000000000000000000" charset="-122"/>
                  <a:cs typeface="+mn-ea"/>
                  <a:sym typeface="+mn-lt"/>
                </a:rPr>
                <a:t>形态各异的毛色</a:t>
              </a:r>
              <a:endParaRPr lang="zh-CN" altLang="en-US" sz="3200" dirty="0">
                <a:solidFill>
                  <a:schemeClr val="bg1"/>
                </a:solidFill>
                <a:latin typeface="方正粗金陵简体" panose="02000000000000000000" charset="-122"/>
                <a:ea typeface="方正粗金陵简体" panose="02000000000000000000" charset="-122"/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1273810" y="1654810"/>
            <a:ext cx="39592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latin typeface="方正颜宋简体" panose="02000000000000000000" charset="-122"/>
                <a:ea typeface="方正颜宋简体" panose="02000000000000000000" charset="-122"/>
              </a:rPr>
              <a:t>纯色</a:t>
            </a:r>
            <a:endParaRPr lang="zh-CN" altLang="en-US" sz="2000">
              <a:latin typeface="方正颜宋简体" panose="02000000000000000000" charset="-122"/>
              <a:ea typeface="方正颜宋简体" panose="02000000000000000000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254125" y="4206875"/>
            <a:ext cx="423672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</a:rPr>
              <a:t>虎斑猫的单根毛发上的色素分段分布，这种深浅间隔分布的毛发被称作虎斑色毛发。虎斑色毛发的排布千变万化。当尖端为深色底端为浅色的三种情况，额外起名叫烟熏色、阴影色和尖点色。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</a:endParaRPr>
          </a:p>
          <a:p>
            <a:endParaRPr lang="zh-CN" altLang="en-US">
              <a:latin typeface="方正颜宋简体" panose="02000000000000000000" charset="-122"/>
              <a:ea typeface="方正颜宋简体" panose="02000000000000000000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254125" y="2012950"/>
            <a:ext cx="40646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</a:rPr>
              <a:t>纯色包括黑色、巧克力色、肉桂色和红色以及蓝色、淡紫色、浅黄褐色稀释色和奶油色稀释色，白色是色素缺失造成。纯色猫整个身体是一种颜色，而且单个毛发整根也是一种颜色。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134860" y="165481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000">
                <a:latin typeface="方正颜宋简体" panose="02000000000000000000" charset="-122"/>
                <a:ea typeface="方正颜宋简体" panose="02000000000000000000" charset="-122"/>
              </a:rPr>
              <a:t>加白色块</a:t>
            </a:r>
            <a:endParaRPr lang="zh-CN" altLang="en-US" sz="2000">
              <a:latin typeface="方正颜宋简体" panose="02000000000000000000" charset="-122"/>
              <a:ea typeface="方正颜宋简体" panose="02000000000000000000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7032625" y="2012950"/>
            <a:ext cx="395986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猫咪的加白色块来自白斑控制机制。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显性白为全身作用，成为纯白猫；白</a:t>
            </a:r>
            <a:r>
              <a:rPr lang="en-US" altLang="zh-CN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         </a:t>
            </a:r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化为出生全白，随温度变化逐渐显色；</a:t>
            </a:r>
            <a:r>
              <a:rPr lang="en-US" altLang="zh-CN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          </a:t>
            </a:r>
            <a:r>
              <a:rPr lang="en-US" altLang="zh-CN">
                <a:solidFill>
                  <a:schemeClr val="bg1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-</a:t>
            </a:r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白斑加白为部分白色，加白量从低到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r>
              <a:rPr lang="en-US" altLang="zh-CN">
                <a:solidFill>
                  <a:schemeClr val="bg1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--</a:t>
            </a:r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高变化。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341235" y="3834765"/>
            <a:ext cx="690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>
                <a:latin typeface="方正颜宋简体" panose="02000000000000000000" charset="-122"/>
                <a:ea typeface="方正颜宋简体" panose="02000000000000000000" charset="-122"/>
              </a:rPr>
              <a:t>渐层</a:t>
            </a:r>
            <a:endParaRPr lang="zh-CN" altLang="en-US" sz="2000">
              <a:latin typeface="方正颜宋简体" panose="02000000000000000000" charset="-122"/>
              <a:ea typeface="方正颜宋简体" panose="020000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134860" y="4192905"/>
            <a:ext cx="379666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虎斑纹路底色可以发生“银化”和“金化”，同样作用于烟熏色/阴影色/尖点色毛发。而当整只猫咪的毛发都是烟熏色/阴影色/尖点色</a:t>
            </a:r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时，会呈现出特殊的视觉效果，</a:t>
            </a:r>
            <a:r>
              <a:rPr lang="zh-CN" altLang="en-US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即渐层。</a:t>
            </a:r>
            <a:endParaRPr lang="zh-CN" altLang="en-US"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198814" y="2549525"/>
            <a:ext cx="7895251" cy="1676400"/>
            <a:chOff x="179389" y="2297457"/>
            <a:chExt cx="7895251" cy="1676400"/>
          </a:xfrm>
        </p:grpSpPr>
        <p:grpSp>
          <p:nvGrpSpPr>
            <p:cNvPr id="5" name="组合 308"/>
            <p:cNvGrpSpPr/>
            <p:nvPr/>
          </p:nvGrpSpPr>
          <p:grpSpPr>
            <a:xfrm>
              <a:off x="1493500" y="2489851"/>
              <a:ext cx="6581140" cy="1442085"/>
              <a:chOff x="6130250" y="4960651"/>
              <a:chExt cx="13162279" cy="2884169"/>
            </a:xfrm>
          </p:grpSpPr>
          <p:sp>
            <p:nvSpPr>
              <p:cNvPr id="7" name="Object 309"/>
              <p:cNvSpPr txBox="1"/>
              <p:nvPr/>
            </p:nvSpPr>
            <p:spPr>
              <a:xfrm>
                <a:off x="6130250" y="4960651"/>
                <a:ext cx="13162279" cy="1907539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三花和玳瑁猫为何多</a:t>
                </a: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为雌性</a:t>
                </a:r>
                <a:endParaRPr lang="zh-CN" altLang="en-US" sz="40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Object 3010"/>
              <p:cNvSpPr txBox="1"/>
              <p:nvPr/>
            </p:nvSpPr>
            <p:spPr>
              <a:xfrm>
                <a:off x="6283920" y="6785640"/>
                <a:ext cx="12176759" cy="105918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>
                <a:lvl1pPr>
                  <a:lnSpc>
                    <a:spcPct val="111000"/>
                  </a:lnSpc>
                  <a:defRPr sz="3000" b="0" i="0">
                    <a:solidFill>
                      <a:schemeClr val="bg1">
                        <a:lumMod val="75000"/>
                      </a:schemeClr>
                    </a:solidFill>
                    <a:cs typeface="+mn-ea"/>
                  </a:defRPr>
                </a:lvl1pPr>
              </a:lstStyle>
              <a:p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无论是可爱的三花校猫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“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花生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”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，还是看似有些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“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丑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“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的玳瑁猫，基本都是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”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女孩子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“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lt"/>
                  </a:rPr>
                  <a:t>，难道这两种毛色和性别之间有什么联系吗？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9" name="Object 3011"/>
              <p:cNvSpPr txBox="1"/>
              <p:nvPr/>
            </p:nvSpPr>
            <p:spPr>
              <a:xfrm>
                <a:off x="6283856" y="6233611"/>
                <a:ext cx="8359033" cy="6350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1600" dirty="0">
                    <a:solidFill>
                      <a:srgbClr val="30B6AB"/>
                    </a:solidFill>
                    <a:cs typeface="+mn-ea"/>
                    <a:sym typeface="+mn-lt"/>
                  </a:rPr>
                  <a:t>Why tortoiseshell cats are grils</a:t>
                </a:r>
                <a:endParaRPr lang="en-US" altLang="zh-CN" sz="16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" name="Object 307"/>
            <p:cNvSpPr txBox="1"/>
            <p:nvPr/>
          </p:nvSpPr>
          <p:spPr>
            <a:xfrm>
              <a:off x="179389" y="2297457"/>
              <a:ext cx="1629256" cy="1676400"/>
            </a:xfrm>
            <a:prstGeom prst="rect">
              <a:avLst/>
            </a:prstGeom>
          </p:spPr>
          <p:txBody>
            <a:bodyPr vert="horz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0000" dirty="0">
                  <a:solidFill>
                    <a:srgbClr val="30B6AB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02</a:t>
              </a:r>
              <a:endParaRPr lang="zh-CN" altLang="en-US" sz="10000" dirty="0">
                <a:solidFill>
                  <a:srgbClr val="30B6AB"/>
                </a:solidFill>
                <a:latin typeface="Agency FB" panose="020B0503020202020204" pitchFamily="34" charset="0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1"/>
          <p:cNvSpPr>
            <a:spLocks noChangeArrowheads="1"/>
          </p:cNvSpPr>
          <p:nvPr/>
        </p:nvSpPr>
        <p:spPr bwMode="auto">
          <a:xfrm>
            <a:off x="2548255" y="5922645"/>
            <a:ext cx="640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+mn-lt"/>
                <a:ea typeface="+mn-lt"/>
              </a:rPr>
              <a:t>雄性</a:t>
            </a:r>
            <a:endParaRPr lang="zh-CN" altLang="en-US" sz="1800" dirty="0">
              <a:latin typeface="+mn-lt"/>
              <a:ea typeface="+mn-lt"/>
            </a:endParaRPr>
          </a:p>
        </p:txBody>
      </p:sp>
      <p:sp>
        <p:nvSpPr>
          <p:cNvPr id="6" name="矩形 21"/>
          <p:cNvSpPr>
            <a:spLocks noChangeArrowheads="1"/>
          </p:cNvSpPr>
          <p:nvPr/>
        </p:nvSpPr>
        <p:spPr bwMode="auto">
          <a:xfrm>
            <a:off x="4998085" y="5916295"/>
            <a:ext cx="6400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等线" panose="02010600030101010101" charset="-122"/>
                <a:ea typeface="等线" panose="02010600030101010101" charset="-122"/>
              </a:rPr>
              <a:t>其他</a:t>
            </a:r>
            <a:endParaRPr lang="zh-CN" altLang="en-US" sz="1800" dirty="0">
              <a:latin typeface="等线" panose="02010600030101010101" charset="-122"/>
              <a:ea typeface="等线" panose="02010600030101010101" charset="-122"/>
            </a:endParaRPr>
          </a:p>
        </p:txBody>
      </p:sp>
      <p:sp>
        <p:nvSpPr>
          <p:cNvPr id="12" name="矩形 21"/>
          <p:cNvSpPr>
            <a:spLocks noChangeArrowheads="1"/>
          </p:cNvSpPr>
          <p:nvPr/>
        </p:nvSpPr>
        <p:spPr bwMode="auto">
          <a:xfrm>
            <a:off x="3469005" y="5916930"/>
            <a:ext cx="118364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三花</a:t>
            </a:r>
            <a:r>
              <a:rPr lang="en-US" altLang="zh-CN" sz="1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/</a:t>
            </a:r>
            <a:r>
              <a:rPr lang="zh-CN" altLang="en-US" sz="1800" dirty="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玳瑁</a:t>
            </a:r>
            <a:endParaRPr lang="zh-CN" altLang="en-US" sz="1800" dirty="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05786" y="195263"/>
            <a:ext cx="1960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</a:rPr>
              <a:t>毛色与性别</a:t>
            </a:r>
            <a:endParaRPr lang="zh-CN" altLang="en-US" sz="2800" dirty="0">
              <a:solidFill>
                <a:srgbClr val="30B6AB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方正宋刻本秀楷简体" panose="02000000000000000000" charset="-122"/>
              <a:ea typeface="方正宋刻本秀楷简体" panose="02000000000000000000" charset="-122"/>
            </a:endParaRPr>
          </a:p>
        </p:txBody>
      </p:sp>
      <p:grpSp>
        <p:nvGrpSpPr>
          <p:cNvPr id="15" name="Group 30"/>
          <p:cNvGrpSpPr/>
          <p:nvPr/>
        </p:nvGrpSpPr>
        <p:grpSpPr>
          <a:xfrm>
            <a:off x="1315976" y="2308125"/>
            <a:ext cx="850359" cy="2912079"/>
            <a:chOff x="2616200" y="1808163"/>
            <a:chExt cx="1009650" cy="3457576"/>
          </a:xfrm>
          <a:effectLst>
            <a:outerShdw blurRad="50800" dist="63500" dir="2700000" sx="96000" sy="96000" algn="tl" rotWithShape="0">
              <a:prstClr val="black">
                <a:alpha val="36000"/>
              </a:prstClr>
            </a:outerShdw>
          </a:effectLst>
        </p:grpSpPr>
        <p:sp>
          <p:nvSpPr>
            <p:cNvPr id="16" name="Rectangle 17"/>
            <p:cNvSpPr>
              <a:spLocks noChangeArrowheads="1"/>
            </p:cNvSpPr>
            <p:nvPr/>
          </p:nvSpPr>
          <p:spPr bwMode="auto">
            <a:xfrm>
              <a:off x="2616200" y="2035176"/>
              <a:ext cx="714375" cy="3230563"/>
            </a:xfrm>
            <a:prstGeom prst="rect">
              <a:avLst/>
            </a:prstGeom>
            <a:solidFill>
              <a:srgbClr val="90E7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7" name="Freeform 18"/>
            <p:cNvSpPr/>
            <p:nvPr/>
          </p:nvSpPr>
          <p:spPr bwMode="auto">
            <a:xfrm>
              <a:off x="2616200" y="1808163"/>
              <a:ext cx="1009650" cy="227013"/>
            </a:xfrm>
            <a:custGeom>
              <a:avLst/>
              <a:gdLst>
                <a:gd name="T0" fmla="*/ 188 w 636"/>
                <a:gd name="T1" fmla="*/ 0 h 143"/>
                <a:gd name="T2" fmla="*/ 0 w 636"/>
                <a:gd name="T3" fmla="*/ 143 h 143"/>
                <a:gd name="T4" fmla="*/ 450 w 636"/>
                <a:gd name="T5" fmla="*/ 143 h 143"/>
                <a:gd name="T6" fmla="*/ 636 w 636"/>
                <a:gd name="T7" fmla="*/ 0 h 143"/>
                <a:gd name="T8" fmla="*/ 188 w 636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143">
                  <a:moveTo>
                    <a:pt x="188" y="0"/>
                  </a:moveTo>
                  <a:lnTo>
                    <a:pt x="0" y="143"/>
                  </a:lnTo>
                  <a:lnTo>
                    <a:pt x="450" y="143"/>
                  </a:lnTo>
                  <a:lnTo>
                    <a:pt x="636" y="0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rgbClr val="C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8" name="Freeform 19"/>
            <p:cNvSpPr/>
            <p:nvPr/>
          </p:nvSpPr>
          <p:spPr bwMode="auto">
            <a:xfrm>
              <a:off x="2616200" y="1808163"/>
              <a:ext cx="1009650" cy="227013"/>
            </a:xfrm>
            <a:custGeom>
              <a:avLst/>
              <a:gdLst>
                <a:gd name="T0" fmla="*/ 188 w 636"/>
                <a:gd name="T1" fmla="*/ 0 h 143"/>
                <a:gd name="T2" fmla="*/ 0 w 636"/>
                <a:gd name="T3" fmla="*/ 143 h 143"/>
                <a:gd name="T4" fmla="*/ 450 w 636"/>
                <a:gd name="T5" fmla="*/ 143 h 143"/>
                <a:gd name="T6" fmla="*/ 636 w 636"/>
                <a:gd name="T7" fmla="*/ 0 h 143"/>
                <a:gd name="T8" fmla="*/ 188 w 636"/>
                <a:gd name="T9" fmla="*/ 0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6" h="143">
                  <a:moveTo>
                    <a:pt x="188" y="0"/>
                  </a:moveTo>
                  <a:lnTo>
                    <a:pt x="0" y="143"/>
                  </a:lnTo>
                  <a:lnTo>
                    <a:pt x="450" y="143"/>
                  </a:lnTo>
                  <a:lnTo>
                    <a:pt x="636" y="0"/>
                  </a:lnTo>
                  <a:lnTo>
                    <a:pt x="18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19" name="Freeform 20"/>
            <p:cNvSpPr/>
            <p:nvPr/>
          </p:nvSpPr>
          <p:spPr bwMode="auto">
            <a:xfrm>
              <a:off x="3330575" y="1808163"/>
              <a:ext cx="295275" cy="3457575"/>
            </a:xfrm>
            <a:custGeom>
              <a:avLst/>
              <a:gdLst>
                <a:gd name="T0" fmla="*/ 186 w 186"/>
                <a:gd name="T1" fmla="*/ 0 h 2178"/>
                <a:gd name="T2" fmla="*/ 186 w 186"/>
                <a:gd name="T3" fmla="*/ 0 h 2178"/>
                <a:gd name="T4" fmla="*/ 0 w 186"/>
                <a:gd name="T5" fmla="*/ 143 h 2178"/>
                <a:gd name="T6" fmla="*/ 0 w 186"/>
                <a:gd name="T7" fmla="*/ 2178 h 2178"/>
                <a:gd name="T8" fmla="*/ 186 w 186"/>
                <a:gd name="T9" fmla="*/ 2035 h 2178"/>
                <a:gd name="T10" fmla="*/ 186 w 186"/>
                <a:gd name="T11" fmla="*/ 0 h 2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2178">
                  <a:moveTo>
                    <a:pt x="186" y="0"/>
                  </a:moveTo>
                  <a:lnTo>
                    <a:pt x="186" y="0"/>
                  </a:lnTo>
                  <a:lnTo>
                    <a:pt x="0" y="143"/>
                  </a:lnTo>
                  <a:lnTo>
                    <a:pt x="0" y="2178"/>
                  </a:lnTo>
                  <a:lnTo>
                    <a:pt x="186" y="2035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0" name="Freeform 21"/>
            <p:cNvSpPr/>
            <p:nvPr/>
          </p:nvSpPr>
          <p:spPr bwMode="auto">
            <a:xfrm>
              <a:off x="3330575" y="1808163"/>
              <a:ext cx="295275" cy="3457575"/>
            </a:xfrm>
            <a:custGeom>
              <a:avLst/>
              <a:gdLst>
                <a:gd name="T0" fmla="*/ 186 w 186"/>
                <a:gd name="T1" fmla="*/ 0 h 2178"/>
                <a:gd name="T2" fmla="*/ 186 w 186"/>
                <a:gd name="T3" fmla="*/ 0 h 2178"/>
                <a:gd name="T4" fmla="*/ 0 w 186"/>
                <a:gd name="T5" fmla="*/ 143 h 2178"/>
                <a:gd name="T6" fmla="*/ 0 w 186"/>
                <a:gd name="T7" fmla="*/ 2178 h 2178"/>
                <a:gd name="T8" fmla="*/ 186 w 186"/>
                <a:gd name="T9" fmla="*/ 2035 h 2178"/>
                <a:gd name="T10" fmla="*/ 186 w 186"/>
                <a:gd name="T11" fmla="*/ 0 h 2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6" h="2178">
                  <a:moveTo>
                    <a:pt x="186" y="0"/>
                  </a:moveTo>
                  <a:lnTo>
                    <a:pt x="186" y="0"/>
                  </a:lnTo>
                  <a:lnTo>
                    <a:pt x="0" y="143"/>
                  </a:lnTo>
                  <a:lnTo>
                    <a:pt x="0" y="2178"/>
                  </a:lnTo>
                  <a:lnTo>
                    <a:pt x="186" y="2035"/>
                  </a:lnTo>
                  <a:lnTo>
                    <a:pt x="18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21" name="Group 36"/>
          <p:cNvGrpSpPr/>
          <p:nvPr/>
        </p:nvGrpSpPr>
        <p:grpSpPr>
          <a:xfrm>
            <a:off x="2512695" y="4858385"/>
            <a:ext cx="862965" cy="361950"/>
            <a:chOff x="3397054" y="3108839"/>
            <a:chExt cx="637642" cy="1182846"/>
          </a:xfrm>
          <a:effectLst>
            <a:outerShdw blurRad="50800" dist="63500" dir="2700000" sx="96000" sy="96000" algn="tl" rotWithShape="0">
              <a:prstClr val="black">
                <a:alpha val="36000"/>
              </a:prstClr>
            </a:outerShdw>
          </a:effectLst>
        </p:grpSpPr>
        <p:sp>
          <p:nvSpPr>
            <p:cNvPr id="22" name="Rectangle 25"/>
            <p:cNvSpPr>
              <a:spLocks noChangeArrowheads="1"/>
            </p:cNvSpPr>
            <p:nvPr/>
          </p:nvSpPr>
          <p:spPr bwMode="auto">
            <a:xfrm>
              <a:off x="3397054" y="3253158"/>
              <a:ext cx="450877" cy="1038527"/>
            </a:xfrm>
            <a:prstGeom prst="rect">
              <a:avLst/>
            </a:prstGeom>
            <a:solidFill>
              <a:srgbClr val="90E7E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3" name="Freeform 26"/>
            <p:cNvSpPr/>
            <p:nvPr/>
          </p:nvSpPr>
          <p:spPr bwMode="auto">
            <a:xfrm>
              <a:off x="3397054" y="3108839"/>
              <a:ext cx="637642" cy="144319"/>
            </a:xfrm>
            <a:custGeom>
              <a:avLst/>
              <a:gdLst>
                <a:gd name="T0" fmla="*/ 676 w 676"/>
                <a:gd name="T1" fmla="*/ 0 h 153"/>
                <a:gd name="T2" fmla="*/ 200 w 676"/>
                <a:gd name="T3" fmla="*/ 0 h 153"/>
                <a:gd name="T4" fmla="*/ 0 w 676"/>
                <a:gd name="T5" fmla="*/ 153 h 153"/>
                <a:gd name="T6" fmla="*/ 478 w 676"/>
                <a:gd name="T7" fmla="*/ 153 h 153"/>
                <a:gd name="T8" fmla="*/ 676 w 676"/>
                <a:gd name="T9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153">
                  <a:moveTo>
                    <a:pt x="676" y="0"/>
                  </a:moveTo>
                  <a:lnTo>
                    <a:pt x="200" y="0"/>
                  </a:lnTo>
                  <a:lnTo>
                    <a:pt x="0" y="153"/>
                  </a:lnTo>
                  <a:lnTo>
                    <a:pt x="478" y="153"/>
                  </a:lnTo>
                  <a:lnTo>
                    <a:pt x="676" y="0"/>
                  </a:lnTo>
                  <a:close/>
                </a:path>
              </a:pathLst>
            </a:custGeom>
            <a:solidFill>
              <a:srgbClr val="CAF4F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4" name="Freeform 27"/>
            <p:cNvSpPr/>
            <p:nvPr/>
          </p:nvSpPr>
          <p:spPr bwMode="auto">
            <a:xfrm>
              <a:off x="3397054" y="3108839"/>
              <a:ext cx="637642" cy="144319"/>
            </a:xfrm>
            <a:custGeom>
              <a:avLst/>
              <a:gdLst>
                <a:gd name="T0" fmla="*/ 676 w 676"/>
                <a:gd name="T1" fmla="*/ 0 h 153"/>
                <a:gd name="T2" fmla="*/ 200 w 676"/>
                <a:gd name="T3" fmla="*/ 0 h 153"/>
                <a:gd name="T4" fmla="*/ 0 w 676"/>
                <a:gd name="T5" fmla="*/ 153 h 153"/>
                <a:gd name="T6" fmla="*/ 478 w 676"/>
                <a:gd name="T7" fmla="*/ 153 h 153"/>
                <a:gd name="T8" fmla="*/ 676 w 676"/>
                <a:gd name="T9" fmla="*/ 0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153">
                  <a:moveTo>
                    <a:pt x="676" y="0"/>
                  </a:moveTo>
                  <a:lnTo>
                    <a:pt x="200" y="0"/>
                  </a:lnTo>
                  <a:lnTo>
                    <a:pt x="0" y="153"/>
                  </a:lnTo>
                  <a:lnTo>
                    <a:pt x="478" y="153"/>
                  </a:lnTo>
                  <a:lnTo>
                    <a:pt x="67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5" name="Freeform 28"/>
            <p:cNvSpPr/>
            <p:nvPr/>
          </p:nvSpPr>
          <p:spPr bwMode="auto">
            <a:xfrm>
              <a:off x="3847931" y="3108839"/>
              <a:ext cx="186765" cy="1182845"/>
            </a:xfrm>
            <a:custGeom>
              <a:avLst/>
              <a:gdLst>
                <a:gd name="T0" fmla="*/ 198 w 198"/>
                <a:gd name="T1" fmla="*/ 0 h 1254"/>
                <a:gd name="T2" fmla="*/ 198 w 198"/>
                <a:gd name="T3" fmla="*/ 0 h 1254"/>
                <a:gd name="T4" fmla="*/ 0 w 198"/>
                <a:gd name="T5" fmla="*/ 153 h 1254"/>
                <a:gd name="T6" fmla="*/ 0 w 198"/>
                <a:gd name="T7" fmla="*/ 1254 h 1254"/>
                <a:gd name="T8" fmla="*/ 198 w 198"/>
                <a:gd name="T9" fmla="*/ 1100 h 1254"/>
                <a:gd name="T10" fmla="*/ 198 w 198"/>
                <a:gd name="T11" fmla="*/ 0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8" h="1254">
                  <a:moveTo>
                    <a:pt x="198" y="0"/>
                  </a:moveTo>
                  <a:lnTo>
                    <a:pt x="198" y="0"/>
                  </a:lnTo>
                  <a:lnTo>
                    <a:pt x="0" y="153"/>
                  </a:lnTo>
                  <a:lnTo>
                    <a:pt x="0" y="1254"/>
                  </a:lnTo>
                  <a:lnTo>
                    <a:pt x="198" y="1100"/>
                  </a:lnTo>
                  <a:lnTo>
                    <a:pt x="198" y="0"/>
                  </a:ln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6" name="Freeform 29"/>
            <p:cNvSpPr/>
            <p:nvPr/>
          </p:nvSpPr>
          <p:spPr bwMode="auto">
            <a:xfrm>
              <a:off x="3847931" y="3108839"/>
              <a:ext cx="186765" cy="1182845"/>
            </a:xfrm>
            <a:custGeom>
              <a:avLst/>
              <a:gdLst>
                <a:gd name="T0" fmla="*/ 198 w 198"/>
                <a:gd name="T1" fmla="*/ 0 h 1254"/>
                <a:gd name="T2" fmla="*/ 198 w 198"/>
                <a:gd name="T3" fmla="*/ 0 h 1254"/>
                <a:gd name="T4" fmla="*/ 0 w 198"/>
                <a:gd name="T5" fmla="*/ 153 h 1254"/>
                <a:gd name="T6" fmla="*/ 0 w 198"/>
                <a:gd name="T7" fmla="*/ 1254 h 1254"/>
                <a:gd name="T8" fmla="*/ 198 w 198"/>
                <a:gd name="T9" fmla="*/ 1100 h 1254"/>
                <a:gd name="T10" fmla="*/ 198 w 198"/>
                <a:gd name="T11" fmla="*/ 0 h 12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8" h="1254">
                  <a:moveTo>
                    <a:pt x="198" y="0"/>
                  </a:moveTo>
                  <a:lnTo>
                    <a:pt x="198" y="0"/>
                  </a:lnTo>
                  <a:lnTo>
                    <a:pt x="0" y="153"/>
                  </a:lnTo>
                  <a:lnTo>
                    <a:pt x="0" y="1254"/>
                  </a:lnTo>
                  <a:lnTo>
                    <a:pt x="198" y="1100"/>
                  </a:lnTo>
                  <a:lnTo>
                    <a:pt x="19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27" name="Group 42"/>
          <p:cNvGrpSpPr/>
          <p:nvPr/>
        </p:nvGrpSpPr>
        <p:grpSpPr>
          <a:xfrm>
            <a:off x="3728653" y="2730000"/>
            <a:ext cx="850189" cy="2490201"/>
            <a:chOff x="4444961" y="2424033"/>
            <a:chExt cx="637642" cy="1867651"/>
          </a:xfrm>
          <a:effectLst>
            <a:outerShdw blurRad="50800" dist="63500" dir="2700000" sx="96000" sy="96000" algn="tl" rotWithShape="0">
              <a:prstClr val="black">
                <a:alpha val="36000"/>
              </a:prstClr>
            </a:outerShdw>
          </a:effectLst>
        </p:grpSpPr>
        <p:sp>
          <p:nvSpPr>
            <p:cNvPr id="28" name="Freeform 35"/>
            <p:cNvSpPr/>
            <p:nvPr/>
          </p:nvSpPr>
          <p:spPr bwMode="auto">
            <a:xfrm>
              <a:off x="4893952" y="2424033"/>
              <a:ext cx="188651" cy="1867650"/>
            </a:xfrm>
            <a:custGeom>
              <a:avLst/>
              <a:gdLst>
                <a:gd name="T0" fmla="*/ 200 w 200"/>
                <a:gd name="T1" fmla="*/ 0 h 1980"/>
                <a:gd name="T2" fmla="*/ 200 w 200"/>
                <a:gd name="T3" fmla="*/ 0 h 1980"/>
                <a:gd name="T4" fmla="*/ 0 w 200"/>
                <a:gd name="T5" fmla="*/ 154 h 1980"/>
                <a:gd name="T6" fmla="*/ 0 w 200"/>
                <a:gd name="T7" fmla="*/ 1980 h 1980"/>
                <a:gd name="T8" fmla="*/ 200 w 200"/>
                <a:gd name="T9" fmla="*/ 1826 h 1980"/>
                <a:gd name="T10" fmla="*/ 200 w 200"/>
                <a:gd name="T11" fmla="*/ 0 h 1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1980">
                  <a:moveTo>
                    <a:pt x="200" y="0"/>
                  </a:moveTo>
                  <a:lnTo>
                    <a:pt x="200" y="0"/>
                  </a:lnTo>
                  <a:lnTo>
                    <a:pt x="0" y="154"/>
                  </a:lnTo>
                  <a:lnTo>
                    <a:pt x="0" y="1980"/>
                  </a:lnTo>
                  <a:lnTo>
                    <a:pt x="200" y="1826"/>
                  </a:lnTo>
                  <a:lnTo>
                    <a:pt x="200" y="0"/>
                  </a:lnTo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29" name="Freeform 33"/>
            <p:cNvSpPr/>
            <p:nvPr/>
          </p:nvSpPr>
          <p:spPr bwMode="auto">
            <a:xfrm>
              <a:off x="4444961" y="2424033"/>
              <a:ext cx="637642" cy="145262"/>
            </a:xfrm>
            <a:custGeom>
              <a:avLst/>
              <a:gdLst>
                <a:gd name="T0" fmla="*/ 676 w 676"/>
                <a:gd name="T1" fmla="*/ 0 h 154"/>
                <a:gd name="T2" fmla="*/ 198 w 676"/>
                <a:gd name="T3" fmla="*/ 0 h 154"/>
                <a:gd name="T4" fmla="*/ 0 w 676"/>
                <a:gd name="T5" fmla="*/ 154 h 154"/>
                <a:gd name="T6" fmla="*/ 476 w 676"/>
                <a:gd name="T7" fmla="*/ 154 h 154"/>
                <a:gd name="T8" fmla="*/ 676 w 676"/>
                <a:gd name="T9" fmla="*/ 0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6" h="154">
                  <a:moveTo>
                    <a:pt x="676" y="0"/>
                  </a:moveTo>
                  <a:lnTo>
                    <a:pt x="198" y="0"/>
                  </a:lnTo>
                  <a:lnTo>
                    <a:pt x="0" y="154"/>
                  </a:lnTo>
                  <a:lnTo>
                    <a:pt x="476" y="154"/>
                  </a:lnTo>
                  <a:lnTo>
                    <a:pt x="676" y="0"/>
                  </a:lnTo>
                </a:path>
              </a:pathLst>
            </a:custGeom>
            <a:solidFill>
              <a:srgbClr val="CAF4F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4444961" y="2569295"/>
              <a:ext cx="448991" cy="1722389"/>
            </a:xfrm>
            <a:prstGeom prst="rect">
              <a:avLst/>
            </a:prstGeom>
            <a:solidFill>
              <a:srgbClr val="90E7E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1" name="Rectangle 31"/>
            <p:cNvSpPr>
              <a:spLocks noChangeArrowheads="1"/>
            </p:cNvSpPr>
            <p:nvPr/>
          </p:nvSpPr>
          <p:spPr bwMode="auto">
            <a:xfrm>
              <a:off x="4444961" y="2569295"/>
              <a:ext cx="448991" cy="17223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32" name="Group 47"/>
          <p:cNvGrpSpPr/>
          <p:nvPr/>
        </p:nvGrpSpPr>
        <p:grpSpPr>
          <a:xfrm>
            <a:off x="4945515" y="3102270"/>
            <a:ext cx="852704" cy="2117928"/>
            <a:chOff x="5491427" y="2703237"/>
            <a:chExt cx="639528" cy="1588446"/>
          </a:xfrm>
          <a:effectLst>
            <a:outerShdw blurRad="50800" dist="63500" dir="2700000" sx="96000" sy="96000" algn="tl" rotWithShape="0">
              <a:prstClr val="black">
                <a:alpha val="36000"/>
              </a:prstClr>
            </a:outerShdw>
          </a:effectLst>
        </p:grpSpPr>
        <p:sp>
          <p:nvSpPr>
            <p:cNvPr id="33" name="Freeform 41"/>
            <p:cNvSpPr/>
            <p:nvPr/>
          </p:nvSpPr>
          <p:spPr bwMode="auto">
            <a:xfrm>
              <a:off x="5942304" y="2703237"/>
              <a:ext cx="188651" cy="1588446"/>
            </a:xfrm>
            <a:custGeom>
              <a:avLst/>
              <a:gdLst>
                <a:gd name="T0" fmla="*/ 200 w 200"/>
                <a:gd name="T1" fmla="*/ 0 h 1684"/>
                <a:gd name="T2" fmla="*/ 200 w 200"/>
                <a:gd name="T3" fmla="*/ 0 h 1684"/>
                <a:gd name="T4" fmla="*/ 0 w 200"/>
                <a:gd name="T5" fmla="*/ 152 h 1684"/>
                <a:gd name="T6" fmla="*/ 0 w 200"/>
                <a:gd name="T7" fmla="*/ 1684 h 1684"/>
                <a:gd name="T8" fmla="*/ 200 w 200"/>
                <a:gd name="T9" fmla="*/ 1530 h 1684"/>
                <a:gd name="T10" fmla="*/ 200 w 200"/>
                <a:gd name="T11" fmla="*/ 0 h 16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00" h="1684">
                  <a:moveTo>
                    <a:pt x="200" y="0"/>
                  </a:moveTo>
                  <a:lnTo>
                    <a:pt x="200" y="0"/>
                  </a:lnTo>
                  <a:lnTo>
                    <a:pt x="0" y="152"/>
                  </a:lnTo>
                  <a:lnTo>
                    <a:pt x="0" y="1684"/>
                  </a:lnTo>
                  <a:lnTo>
                    <a:pt x="200" y="1530"/>
                  </a:lnTo>
                  <a:lnTo>
                    <a:pt x="200" y="0"/>
                  </a:lnTo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 dirty="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4" name="Rectangle 36"/>
            <p:cNvSpPr>
              <a:spLocks noChangeArrowheads="1"/>
            </p:cNvSpPr>
            <p:nvPr/>
          </p:nvSpPr>
          <p:spPr bwMode="auto">
            <a:xfrm>
              <a:off x="5491427" y="2846612"/>
              <a:ext cx="450877" cy="1445071"/>
            </a:xfrm>
            <a:prstGeom prst="rect">
              <a:avLst/>
            </a:prstGeom>
            <a:solidFill>
              <a:srgbClr val="90E7E0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5" name="Rectangle 37"/>
            <p:cNvSpPr>
              <a:spLocks noChangeArrowheads="1"/>
            </p:cNvSpPr>
            <p:nvPr/>
          </p:nvSpPr>
          <p:spPr bwMode="auto">
            <a:xfrm>
              <a:off x="5491427" y="2846612"/>
              <a:ext cx="450877" cy="1445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6" name="Freeform 38"/>
            <p:cNvSpPr/>
            <p:nvPr/>
          </p:nvSpPr>
          <p:spPr bwMode="auto">
            <a:xfrm>
              <a:off x="5491427" y="2703237"/>
              <a:ext cx="639528" cy="143375"/>
            </a:xfrm>
            <a:custGeom>
              <a:avLst/>
              <a:gdLst>
                <a:gd name="T0" fmla="*/ 678 w 678"/>
                <a:gd name="T1" fmla="*/ 0 h 152"/>
                <a:gd name="T2" fmla="*/ 200 w 678"/>
                <a:gd name="T3" fmla="*/ 0 h 152"/>
                <a:gd name="T4" fmla="*/ 0 w 678"/>
                <a:gd name="T5" fmla="*/ 152 h 152"/>
                <a:gd name="T6" fmla="*/ 478 w 678"/>
                <a:gd name="T7" fmla="*/ 152 h 152"/>
                <a:gd name="T8" fmla="*/ 678 w 678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8" h="152">
                  <a:moveTo>
                    <a:pt x="678" y="0"/>
                  </a:moveTo>
                  <a:lnTo>
                    <a:pt x="200" y="0"/>
                  </a:lnTo>
                  <a:lnTo>
                    <a:pt x="0" y="152"/>
                  </a:lnTo>
                  <a:lnTo>
                    <a:pt x="478" y="152"/>
                  </a:lnTo>
                  <a:lnTo>
                    <a:pt x="678" y="0"/>
                  </a:lnTo>
                  <a:close/>
                </a:path>
              </a:pathLst>
            </a:custGeom>
            <a:solidFill>
              <a:srgbClr val="CAF4F2"/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37" name="Freeform 39"/>
            <p:cNvSpPr/>
            <p:nvPr/>
          </p:nvSpPr>
          <p:spPr bwMode="auto">
            <a:xfrm>
              <a:off x="5491427" y="2703237"/>
              <a:ext cx="639528" cy="143375"/>
            </a:xfrm>
            <a:custGeom>
              <a:avLst/>
              <a:gdLst>
                <a:gd name="T0" fmla="*/ 678 w 678"/>
                <a:gd name="T1" fmla="*/ 0 h 152"/>
                <a:gd name="T2" fmla="*/ 200 w 678"/>
                <a:gd name="T3" fmla="*/ 0 h 152"/>
                <a:gd name="T4" fmla="*/ 0 w 678"/>
                <a:gd name="T5" fmla="*/ 152 h 152"/>
                <a:gd name="T6" fmla="*/ 478 w 678"/>
                <a:gd name="T7" fmla="*/ 152 h 152"/>
                <a:gd name="T8" fmla="*/ 678 w 678"/>
                <a:gd name="T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8" h="152">
                  <a:moveTo>
                    <a:pt x="678" y="0"/>
                  </a:moveTo>
                  <a:lnTo>
                    <a:pt x="200" y="0"/>
                  </a:lnTo>
                  <a:lnTo>
                    <a:pt x="0" y="152"/>
                  </a:lnTo>
                  <a:lnTo>
                    <a:pt x="478" y="152"/>
                  </a:lnTo>
                  <a:lnTo>
                    <a:pt x="678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121920" tIns="60960" rIns="121920" bIns="60960" numCol="1" anchor="t" anchorCtr="0" compatLnSpc="1"/>
            <a:lstStyle/>
            <a:p>
              <a:endParaRPr lang="en-ID" sz="2400"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38" name="Group 57"/>
          <p:cNvGrpSpPr/>
          <p:nvPr/>
        </p:nvGrpSpPr>
        <p:grpSpPr>
          <a:xfrm>
            <a:off x="5057543" y="2297059"/>
            <a:ext cx="599844" cy="700947"/>
            <a:chOff x="3358089" y="1869525"/>
            <a:chExt cx="449883" cy="525710"/>
          </a:xfrm>
        </p:grpSpPr>
        <p:sp>
          <p:nvSpPr>
            <p:cNvPr id="39" name="TextBox 58"/>
            <p:cNvSpPr txBox="1"/>
            <p:nvPr/>
          </p:nvSpPr>
          <p:spPr>
            <a:xfrm>
              <a:off x="3358089" y="2110493"/>
              <a:ext cx="44988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54%</a:t>
              </a:r>
              <a:endParaRPr lang="en-ID" sz="1865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40" name="Freeform 5"/>
            <p:cNvSpPr>
              <a:spLocks noEditPoints="1"/>
            </p:cNvSpPr>
            <p:nvPr/>
          </p:nvSpPr>
          <p:spPr bwMode="auto">
            <a:xfrm>
              <a:off x="3463859" y="1869525"/>
              <a:ext cx="236429" cy="244310"/>
            </a:xfrm>
            <a:custGeom>
              <a:avLst/>
              <a:gdLst>
                <a:gd name="T0" fmla="*/ 5 w 76"/>
                <a:gd name="T1" fmla="*/ 38 h 76"/>
                <a:gd name="T2" fmla="*/ 71 w 76"/>
                <a:gd name="T3" fmla="*/ 38 h 76"/>
                <a:gd name="T4" fmla="*/ 38 w 76"/>
                <a:gd name="T5" fmla="*/ 6 h 76"/>
                <a:gd name="T6" fmla="*/ 38 w 76"/>
                <a:gd name="T7" fmla="*/ 69 h 76"/>
                <a:gd name="T8" fmla="*/ 38 w 76"/>
                <a:gd name="T9" fmla="*/ 6 h 76"/>
                <a:gd name="T10" fmla="*/ 0 w 76"/>
                <a:gd name="T11" fmla="*/ 38 h 76"/>
                <a:gd name="T12" fmla="*/ 76 w 76"/>
                <a:gd name="T13" fmla="*/ 38 h 76"/>
                <a:gd name="T14" fmla="*/ 38 w 76"/>
                <a:gd name="T15" fmla="*/ 3 h 76"/>
                <a:gd name="T16" fmla="*/ 38 w 76"/>
                <a:gd name="T17" fmla="*/ 73 h 76"/>
                <a:gd name="T18" fmla="*/ 38 w 76"/>
                <a:gd name="T19" fmla="*/ 3 h 76"/>
                <a:gd name="T20" fmla="*/ 49 w 76"/>
                <a:gd name="T21" fmla="*/ 47 h 76"/>
                <a:gd name="T22" fmla="*/ 40 w 76"/>
                <a:gd name="T23" fmla="*/ 22 h 76"/>
                <a:gd name="T24" fmla="*/ 37 w 76"/>
                <a:gd name="T25" fmla="*/ 22 h 76"/>
                <a:gd name="T26" fmla="*/ 47 w 76"/>
                <a:gd name="T27" fmla="*/ 49 h 76"/>
                <a:gd name="T28" fmla="*/ 49 w 76"/>
                <a:gd name="T29" fmla="*/ 49 h 76"/>
                <a:gd name="T30" fmla="*/ 40 w 76"/>
                <a:gd name="T31" fmla="*/ 11 h 76"/>
                <a:gd name="T32" fmla="*/ 37 w 76"/>
                <a:gd name="T33" fmla="*/ 11 h 76"/>
                <a:gd name="T34" fmla="*/ 38 w 76"/>
                <a:gd name="T35" fmla="*/ 15 h 76"/>
                <a:gd name="T36" fmla="*/ 40 w 76"/>
                <a:gd name="T37" fmla="*/ 65 h 76"/>
                <a:gd name="T38" fmla="*/ 38 w 76"/>
                <a:gd name="T39" fmla="*/ 61 h 76"/>
                <a:gd name="T40" fmla="*/ 37 w 76"/>
                <a:gd name="T41" fmla="*/ 65 h 76"/>
                <a:gd name="T42" fmla="*/ 40 w 76"/>
                <a:gd name="T43" fmla="*/ 65 h 76"/>
                <a:gd name="T44" fmla="*/ 65 w 76"/>
                <a:gd name="T45" fmla="*/ 36 h 76"/>
                <a:gd name="T46" fmla="*/ 61 w 76"/>
                <a:gd name="T47" fmla="*/ 38 h 76"/>
                <a:gd name="T48" fmla="*/ 65 w 76"/>
                <a:gd name="T49" fmla="*/ 39 h 76"/>
                <a:gd name="T50" fmla="*/ 15 w 76"/>
                <a:gd name="T51" fmla="*/ 38 h 76"/>
                <a:gd name="T52" fmla="*/ 11 w 76"/>
                <a:gd name="T53" fmla="*/ 36 h 76"/>
                <a:gd name="T54" fmla="*/ 11 w 76"/>
                <a:gd name="T55" fmla="*/ 39 h 76"/>
                <a:gd name="T56" fmla="*/ 15 w 76"/>
                <a:gd name="T57" fmla="*/ 38 h 76"/>
                <a:gd name="T58" fmla="*/ 58 w 76"/>
                <a:gd name="T59" fmla="*/ 20 h 76"/>
                <a:gd name="T60" fmla="*/ 56 w 76"/>
                <a:gd name="T61" fmla="*/ 18 h 76"/>
                <a:gd name="T62" fmla="*/ 54 w 76"/>
                <a:gd name="T63" fmla="*/ 22 h 76"/>
                <a:gd name="T64" fmla="*/ 56 w 76"/>
                <a:gd name="T65" fmla="*/ 22 h 76"/>
                <a:gd name="T66" fmla="*/ 22 w 76"/>
                <a:gd name="T67" fmla="*/ 56 h 76"/>
                <a:gd name="T68" fmla="*/ 20 w 76"/>
                <a:gd name="T69" fmla="*/ 54 h 76"/>
                <a:gd name="T70" fmla="*/ 18 w 76"/>
                <a:gd name="T71" fmla="*/ 58 h 76"/>
                <a:gd name="T72" fmla="*/ 20 w 76"/>
                <a:gd name="T73" fmla="*/ 58 h 76"/>
                <a:gd name="T74" fmla="*/ 58 w 76"/>
                <a:gd name="T75" fmla="*/ 56 h 76"/>
                <a:gd name="T76" fmla="*/ 54 w 76"/>
                <a:gd name="T77" fmla="*/ 54 h 76"/>
                <a:gd name="T78" fmla="*/ 56 w 76"/>
                <a:gd name="T79" fmla="*/ 58 h 76"/>
                <a:gd name="T80" fmla="*/ 58 w 76"/>
                <a:gd name="T81" fmla="*/ 58 h 76"/>
                <a:gd name="T82" fmla="*/ 22 w 76"/>
                <a:gd name="T83" fmla="*/ 20 h 76"/>
                <a:gd name="T84" fmla="*/ 18 w 76"/>
                <a:gd name="T85" fmla="*/ 18 h 76"/>
                <a:gd name="T86" fmla="*/ 20 w 76"/>
                <a:gd name="T87" fmla="*/ 22 h 76"/>
                <a:gd name="T88" fmla="*/ 22 w 76"/>
                <a:gd name="T89" fmla="*/ 22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6" h="76">
                  <a:moveTo>
                    <a:pt x="38" y="71"/>
                  </a:moveTo>
                  <a:cubicBezTo>
                    <a:pt x="20" y="71"/>
                    <a:pt x="5" y="56"/>
                    <a:pt x="5" y="38"/>
                  </a:cubicBezTo>
                  <a:cubicBezTo>
                    <a:pt x="5" y="19"/>
                    <a:pt x="20" y="4"/>
                    <a:pt x="38" y="4"/>
                  </a:cubicBezTo>
                  <a:cubicBezTo>
                    <a:pt x="56" y="4"/>
                    <a:pt x="71" y="19"/>
                    <a:pt x="71" y="38"/>
                  </a:cubicBezTo>
                  <a:cubicBezTo>
                    <a:pt x="71" y="56"/>
                    <a:pt x="56" y="71"/>
                    <a:pt x="38" y="71"/>
                  </a:cubicBezTo>
                  <a:close/>
                  <a:moveTo>
                    <a:pt x="38" y="6"/>
                  </a:moveTo>
                  <a:cubicBezTo>
                    <a:pt x="21" y="6"/>
                    <a:pt x="7" y="21"/>
                    <a:pt x="7" y="38"/>
                  </a:cubicBezTo>
                  <a:cubicBezTo>
                    <a:pt x="7" y="55"/>
                    <a:pt x="21" y="69"/>
                    <a:pt x="38" y="69"/>
                  </a:cubicBezTo>
                  <a:cubicBezTo>
                    <a:pt x="55" y="69"/>
                    <a:pt x="69" y="55"/>
                    <a:pt x="69" y="38"/>
                  </a:cubicBezTo>
                  <a:cubicBezTo>
                    <a:pt x="69" y="21"/>
                    <a:pt x="55" y="6"/>
                    <a:pt x="38" y="6"/>
                  </a:cubicBezTo>
                  <a:close/>
                  <a:moveTo>
                    <a:pt x="38" y="76"/>
                  </a:moveTo>
                  <a:cubicBezTo>
                    <a:pt x="17" y="76"/>
                    <a:pt x="0" y="59"/>
                    <a:pt x="0" y="38"/>
                  </a:cubicBezTo>
                  <a:cubicBezTo>
                    <a:pt x="0" y="17"/>
                    <a:pt x="17" y="0"/>
                    <a:pt x="38" y="0"/>
                  </a:cubicBezTo>
                  <a:cubicBezTo>
                    <a:pt x="59" y="0"/>
                    <a:pt x="76" y="17"/>
                    <a:pt x="76" y="38"/>
                  </a:cubicBezTo>
                  <a:cubicBezTo>
                    <a:pt x="76" y="59"/>
                    <a:pt x="59" y="76"/>
                    <a:pt x="38" y="76"/>
                  </a:cubicBezTo>
                  <a:close/>
                  <a:moveTo>
                    <a:pt x="38" y="3"/>
                  </a:moveTo>
                  <a:cubicBezTo>
                    <a:pt x="19" y="3"/>
                    <a:pt x="3" y="18"/>
                    <a:pt x="3" y="38"/>
                  </a:cubicBezTo>
                  <a:cubicBezTo>
                    <a:pt x="3" y="57"/>
                    <a:pt x="19" y="73"/>
                    <a:pt x="38" y="73"/>
                  </a:cubicBezTo>
                  <a:cubicBezTo>
                    <a:pt x="57" y="73"/>
                    <a:pt x="73" y="57"/>
                    <a:pt x="73" y="38"/>
                  </a:cubicBezTo>
                  <a:cubicBezTo>
                    <a:pt x="73" y="18"/>
                    <a:pt x="57" y="3"/>
                    <a:pt x="38" y="3"/>
                  </a:cubicBezTo>
                  <a:close/>
                  <a:moveTo>
                    <a:pt x="49" y="49"/>
                  </a:moveTo>
                  <a:cubicBezTo>
                    <a:pt x="50" y="48"/>
                    <a:pt x="50" y="48"/>
                    <a:pt x="49" y="47"/>
                  </a:cubicBezTo>
                  <a:cubicBezTo>
                    <a:pt x="40" y="37"/>
                    <a:pt x="40" y="37"/>
                    <a:pt x="40" y="37"/>
                  </a:cubicBezTo>
                  <a:cubicBezTo>
                    <a:pt x="40" y="22"/>
                    <a:pt x="40" y="22"/>
                    <a:pt x="40" y="22"/>
                  </a:cubicBezTo>
                  <a:cubicBezTo>
                    <a:pt x="40" y="21"/>
                    <a:pt x="39" y="20"/>
                    <a:pt x="38" y="20"/>
                  </a:cubicBezTo>
                  <a:cubicBezTo>
                    <a:pt x="37" y="20"/>
                    <a:pt x="37" y="21"/>
                    <a:pt x="37" y="22"/>
                  </a:cubicBezTo>
                  <a:cubicBezTo>
                    <a:pt x="37" y="38"/>
                    <a:pt x="37" y="38"/>
                    <a:pt x="37" y="38"/>
                  </a:cubicBezTo>
                  <a:cubicBezTo>
                    <a:pt x="47" y="49"/>
                    <a:pt x="47" y="49"/>
                    <a:pt x="47" y="49"/>
                  </a:cubicBezTo>
                  <a:cubicBezTo>
                    <a:pt x="47" y="49"/>
                    <a:pt x="48" y="50"/>
                    <a:pt x="48" y="50"/>
                  </a:cubicBezTo>
                  <a:cubicBezTo>
                    <a:pt x="49" y="50"/>
                    <a:pt x="49" y="49"/>
                    <a:pt x="49" y="49"/>
                  </a:cubicBezTo>
                  <a:close/>
                  <a:moveTo>
                    <a:pt x="40" y="14"/>
                  </a:moveTo>
                  <a:cubicBezTo>
                    <a:pt x="40" y="11"/>
                    <a:pt x="40" y="11"/>
                    <a:pt x="40" y="11"/>
                  </a:cubicBezTo>
                  <a:cubicBezTo>
                    <a:pt x="40" y="10"/>
                    <a:pt x="39" y="9"/>
                    <a:pt x="38" y="9"/>
                  </a:cubicBezTo>
                  <a:cubicBezTo>
                    <a:pt x="37" y="9"/>
                    <a:pt x="37" y="10"/>
                    <a:pt x="37" y="11"/>
                  </a:cubicBezTo>
                  <a:cubicBezTo>
                    <a:pt x="37" y="14"/>
                    <a:pt x="37" y="14"/>
                    <a:pt x="37" y="14"/>
                  </a:cubicBezTo>
                  <a:cubicBezTo>
                    <a:pt x="37" y="15"/>
                    <a:pt x="37" y="15"/>
                    <a:pt x="38" y="15"/>
                  </a:cubicBezTo>
                  <a:cubicBezTo>
                    <a:pt x="39" y="15"/>
                    <a:pt x="40" y="15"/>
                    <a:pt x="40" y="14"/>
                  </a:cubicBezTo>
                  <a:close/>
                  <a:moveTo>
                    <a:pt x="40" y="65"/>
                  </a:moveTo>
                  <a:cubicBezTo>
                    <a:pt x="40" y="62"/>
                    <a:pt x="40" y="62"/>
                    <a:pt x="40" y="62"/>
                  </a:cubicBezTo>
                  <a:cubicBezTo>
                    <a:pt x="40" y="61"/>
                    <a:pt x="39" y="61"/>
                    <a:pt x="38" y="61"/>
                  </a:cubicBezTo>
                  <a:cubicBezTo>
                    <a:pt x="37" y="61"/>
                    <a:pt x="37" y="61"/>
                    <a:pt x="37" y="62"/>
                  </a:cubicBezTo>
                  <a:cubicBezTo>
                    <a:pt x="37" y="65"/>
                    <a:pt x="37" y="65"/>
                    <a:pt x="37" y="65"/>
                  </a:cubicBezTo>
                  <a:cubicBezTo>
                    <a:pt x="37" y="66"/>
                    <a:pt x="37" y="66"/>
                    <a:pt x="38" y="66"/>
                  </a:cubicBezTo>
                  <a:cubicBezTo>
                    <a:pt x="39" y="66"/>
                    <a:pt x="40" y="66"/>
                    <a:pt x="40" y="65"/>
                  </a:cubicBezTo>
                  <a:close/>
                  <a:moveTo>
                    <a:pt x="66" y="38"/>
                  </a:moveTo>
                  <a:cubicBezTo>
                    <a:pt x="66" y="37"/>
                    <a:pt x="66" y="36"/>
                    <a:pt x="65" y="36"/>
                  </a:cubicBezTo>
                  <a:cubicBezTo>
                    <a:pt x="62" y="36"/>
                    <a:pt x="62" y="36"/>
                    <a:pt x="62" y="36"/>
                  </a:cubicBezTo>
                  <a:cubicBezTo>
                    <a:pt x="61" y="36"/>
                    <a:pt x="61" y="37"/>
                    <a:pt x="61" y="38"/>
                  </a:cubicBezTo>
                  <a:cubicBezTo>
                    <a:pt x="61" y="39"/>
                    <a:pt x="61" y="39"/>
                    <a:pt x="62" y="39"/>
                  </a:cubicBezTo>
                  <a:cubicBezTo>
                    <a:pt x="65" y="39"/>
                    <a:pt x="65" y="39"/>
                    <a:pt x="65" y="39"/>
                  </a:cubicBezTo>
                  <a:cubicBezTo>
                    <a:pt x="66" y="39"/>
                    <a:pt x="66" y="39"/>
                    <a:pt x="66" y="38"/>
                  </a:cubicBezTo>
                  <a:close/>
                  <a:moveTo>
                    <a:pt x="15" y="38"/>
                  </a:moveTo>
                  <a:cubicBezTo>
                    <a:pt x="15" y="37"/>
                    <a:pt x="15" y="36"/>
                    <a:pt x="14" y="36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0" y="36"/>
                    <a:pt x="10" y="37"/>
                    <a:pt x="10" y="38"/>
                  </a:cubicBezTo>
                  <a:cubicBezTo>
                    <a:pt x="10" y="39"/>
                    <a:pt x="10" y="39"/>
                    <a:pt x="11" y="39"/>
                  </a:cubicBezTo>
                  <a:cubicBezTo>
                    <a:pt x="14" y="39"/>
                    <a:pt x="14" y="39"/>
                    <a:pt x="14" y="39"/>
                  </a:cubicBezTo>
                  <a:cubicBezTo>
                    <a:pt x="15" y="39"/>
                    <a:pt x="15" y="39"/>
                    <a:pt x="15" y="38"/>
                  </a:cubicBezTo>
                  <a:close/>
                  <a:moveTo>
                    <a:pt x="56" y="22"/>
                  </a:moveTo>
                  <a:cubicBezTo>
                    <a:pt x="58" y="20"/>
                    <a:pt x="58" y="20"/>
                    <a:pt x="58" y="20"/>
                  </a:cubicBezTo>
                  <a:cubicBezTo>
                    <a:pt x="58" y="19"/>
                    <a:pt x="58" y="19"/>
                    <a:pt x="58" y="18"/>
                  </a:cubicBezTo>
                  <a:cubicBezTo>
                    <a:pt x="57" y="18"/>
                    <a:pt x="57" y="18"/>
                    <a:pt x="56" y="18"/>
                  </a:cubicBezTo>
                  <a:cubicBezTo>
                    <a:pt x="54" y="20"/>
                    <a:pt x="54" y="20"/>
                    <a:pt x="54" y="20"/>
                  </a:cubicBezTo>
                  <a:cubicBezTo>
                    <a:pt x="54" y="20"/>
                    <a:pt x="54" y="21"/>
                    <a:pt x="54" y="22"/>
                  </a:cubicBezTo>
                  <a:cubicBezTo>
                    <a:pt x="55" y="22"/>
                    <a:pt x="55" y="22"/>
                    <a:pt x="55" y="22"/>
                  </a:cubicBezTo>
                  <a:cubicBezTo>
                    <a:pt x="55" y="22"/>
                    <a:pt x="56" y="22"/>
                    <a:pt x="56" y="22"/>
                  </a:cubicBezTo>
                  <a:close/>
                  <a:moveTo>
                    <a:pt x="20" y="58"/>
                  </a:moveTo>
                  <a:cubicBezTo>
                    <a:pt x="22" y="56"/>
                    <a:pt x="22" y="56"/>
                    <a:pt x="22" y="56"/>
                  </a:cubicBezTo>
                  <a:cubicBezTo>
                    <a:pt x="22" y="55"/>
                    <a:pt x="22" y="55"/>
                    <a:pt x="22" y="54"/>
                  </a:cubicBezTo>
                  <a:cubicBezTo>
                    <a:pt x="21" y="54"/>
                    <a:pt x="21" y="54"/>
                    <a:pt x="20" y="54"/>
                  </a:cubicBezTo>
                  <a:cubicBezTo>
                    <a:pt x="18" y="56"/>
                    <a:pt x="18" y="56"/>
                    <a:pt x="18" y="56"/>
                  </a:cubicBezTo>
                  <a:cubicBezTo>
                    <a:pt x="18" y="57"/>
                    <a:pt x="18" y="57"/>
                    <a:pt x="18" y="58"/>
                  </a:cubicBezTo>
                  <a:cubicBezTo>
                    <a:pt x="18" y="58"/>
                    <a:pt x="19" y="58"/>
                    <a:pt x="19" y="58"/>
                  </a:cubicBezTo>
                  <a:cubicBezTo>
                    <a:pt x="19" y="58"/>
                    <a:pt x="20" y="58"/>
                    <a:pt x="20" y="58"/>
                  </a:cubicBezTo>
                  <a:close/>
                  <a:moveTo>
                    <a:pt x="58" y="58"/>
                  </a:moveTo>
                  <a:cubicBezTo>
                    <a:pt x="58" y="57"/>
                    <a:pt x="58" y="57"/>
                    <a:pt x="58" y="56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5" y="54"/>
                    <a:pt x="55" y="54"/>
                    <a:pt x="54" y="54"/>
                  </a:cubicBezTo>
                  <a:cubicBezTo>
                    <a:pt x="54" y="55"/>
                    <a:pt x="54" y="55"/>
                    <a:pt x="54" y="56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7" y="58"/>
                    <a:pt x="57" y="58"/>
                    <a:pt x="57" y="58"/>
                  </a:cubicBezTo>
                  <a:cubicBezTo>
                    <a:pt x="57" y="58"/>
                    <a:pt x="58" y="58"/>
                    <a:pt x="58" y="58"/>
                  </a:cubicBezTo>
                  <a:close/>
                  <a:moveTo>
                    <a:pt x="22" y="22"/>
                  </a:moveTo>
                  <a:cubicBezTo>
                    <a:pt x="22" y="21"/>
                    <a:pt x="22" y="20"/>
                    <a:pt x="22" y="20"/>
                  </a:cubicBezTo>
                  <a:cubicBezTo>
                    <a:pt x="20" y="18"/>
                    <a:pt x="20" y="18"/>
                    <a:pt x="20" y="18"/>
                  </a:cubicBezTo>
                  <a:cubicBezTo>
                    <a:pt x="19" y="18"/>
                    <a:pt x="19" y="18"/>
                    <a:pt x="18" y="18"/>
                  </a:cubicBezTo>
                  <a:cubicBezTo>
                    <a:pt x="18" y="19"/>
                    <a:pt x="18" y="19"/>
                    <a:pt x="18" y="20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0" y="22"/>
                    <a:pt x="21" y="22"/>
                    <a:pt x="21" y="22"/>
                  </a:cubicBezTo>
                  <a:cubicBezTo>
                    <a:pt x="21" y="22"/>
                    <a:pt x="21" y="22"/>
                    <a:pt x="22" y="22"/>
                  </a:cubicBez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65">
                <a:solidFill>
                  <a:srgbClr val="30B6AB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41" name="Group 60"/>
          <p:cNvGrpSpPr/>
          <p:nvPr/>
        </p:nvGrpSpPr>
        <p:grpSpPr>
          <a:xfrm>
            <a:off x="1442294" y="1565173"/>
            <a:ext cx="774065" cy="656068"/>
            <a:chOff x="646648" y="1320607"/>
            <a:chExt cx="580549" cy="492051"/>
          </a:xfrm>
        </p:grpSpPr>
        <p:sp>
          <p:nvSpPr>
            <p:cNvPr id="42" name="TextBox 61"/>
            <p:cNvSpPr txBox="1"/>
            <p:nvPr/>
          </p:nvSpPr>
          <p:spPr>
            <a:xfrm>
              <a:off x="646648" y="1528813"/>
              <a:ext cx="580549" cy="283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99.8</a:t>
              </a:r>
              <a:r>
                <a:rPr 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%</a:t>
              </a:r>
              <a:endParaRPr lang="en-ID" sz="1865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43" name="Freeform 25"/>
            <p:cNvSpPr>
              <a:spLocks noEditPoints="1"/>
            </p:cNvSpPr>
            <p:nvPr/>
          </p:nvSpPr>
          <p:spPr bwMode="auto">
            <a:xfrm>
              <a:off x="733366" y="1320607"/>
              <a:ext cx="245624" cy="212786"/>
            </a:xfrm>
            <a:custGeom>
              <a:avLst/>
              <a:gdLst>
                <a:gd name="T0" fmla="*/ 5 w 79"/>
                <a:gd name="T1" fmla="*/ 39 h 66"/>
                <a:gd name="T2" fmla="*/ 13 w 79"/>
                <a:gd name="T3" fmla="*/ 60 h 66"/>
                <a:gd name="T4" fmla="*/ 66 w 79"/>
                <a:gd name="T5" fmla="*/ 60 h 66"/>
                <a:gd name="T6" fmla="*/ 39 w 79"/>
                <a:gd name="T7" fmla="*/ 5 h 66"/>
                <a:gd name="T8" fmla="*/ 13 w 79"/>
                <a:gd name="T9" fmla="*/ 58 h 66"/>
                <a:gd name="T10" fmla="*/ 39 w 79"/>
                <a:gd name="T11" fmla="*/ 7 h 66"/>
                <a:gd name="T12" fmla="*/ 65 w 79"/>
                <a:gd name="T13" fmla="*/ 58 h 66"/>
                <a:gd name="T14" fmla="*/ 0 w 79"/>
                <a:gd name="T15" fmla="*/ 40 h 66"/>
                <a:gd name="T16" fmla="*/ 12 w 79"/>
                <a:gd name="T17" fmla="*/ 66 h 66"/>
                <a:gd name="T18" fmla="*/ 71 w 79"/>
                <a:gd name="T19" fmla="*/ 63 h 66"/>
                <a:gd name="T20" fmla="*/ 39 w 79"/>
                <a:gd name="T21" fmla="*/ 0 h 66"/>
                <a:gd name="T22" fmla="*/ 66 w 79"/>
                <a:gd name="T23" fmla="*/ 63 h 66"/>
                <a:gd name="T24" fmla="*/ 10 w 79"/>
                <a:gd name="T25" fmla="*/ 62 h 66"/>
                <a:gd name="T26" fmla="*/ 39 w 79"/>
                <a:gd name="T27" fmla="*/ 3 h 66"/>
                <a:gd name="T28" fmla="*/ 68 w 79"/>
                <a:gd name="T29" fmla="*/ 62 h 66"/>
                <a:gd name="T30" fmla="*/ 36 w 79"/>
                <a:gd name="T31" fmla="*/ 35 h 66"/>
                <a:gd name="T32" fmla="*/ 40 w 79"/>
                <a:gd name="T33" fmla="*/ 23 h 66"/>
                <a:gd name="T34" fmla="*/ 45 w 79"/>
                <a:gd name="T35" fmla="*/ 39 h 66"/>
                <a:gd name="T36" fmla="*/ 33 w 79"/>
                <a:gd name="T37" fmla="*/ 39 h 66"/>
                <a:gd name="T38" fmla="*/ 38 w 79"/>
                <a:gd name="T39" fmla="*/ 12 h 66"/>
                <a:gd name="T40" fmla="*/ 41 w 79"/>
                <a:gd name="T41" fmla="*/ 12 h 66"/>
                <a:gd name="T42" fmla="*/ 39 w 79"/>
                <a:gd name="T43" fmla="*/ 16 h 66"/>
                <a:gd name="T44" fmla="*/ 69 w 79"/>
                <a:gd name="T45" fmla="*/ 39 h 66"/>
                <a:gd name="T46" fmla="*/ 64 w 79"/>
                <a:gd name="T47" fmla="*/ 41 h 66"/>
                <a:gd name="T48" fmla="*/ 64 w 79"/>
                <a:gd name="T49" fmla="*/ 38 h 66"/>
                <a:gd name="T50" fmla="*/ 69 w 79"/>
                <a:gd name="T51" fmla="*/ 39 h 66"/>
                <a:gd name="T52" fmla="*/ 14 w 79"/>
                <a:gd name="T53" fmla="*/ 41 h 66"/>
                <a:gd name="T54" fmla="*/ 10 w 79"/>
                <a:gd name="T55" fmla="*/ 39 h 66"/>
                <a:gd name="T56" fmla="*/ 14 w 79"/>
                <a:gd name="T57" fmla="*/ 38 h 66"/>
                <a:gd name="T58" fmla="*/ 22 w 79"/>
                <a:gd name="T59" fmla="*/ 21 h 66"/>
                <a:gd name="T60" fmla="*/ 21 w 79"/>
                <a:gd name="T61" fmla="*/ 23 h 66"/>
                <a:gd name="T62" fmla="*/ 18 w 79"/>
                <a:gd name="T63" fmla="*/ 21 h 66"/>
                <a:gd name="T64" fmla="*/ 20 w 79"/>
                <a:gd name="T65" fmla="*/ 19 h 66"/>
                <a:gd name="T66" fmla="*/ 60 w 79"/>
                <a:gd name="T67" fmla="*/ 19 h 66"/>
                <a:gd name="T68" fmla="*/ 58 w 79"/>
                <a:gd name="T69" fmla="*/ 23 h 66"/>
                <a:gd name="T70" fmla="*/ 56 w 79"/>
                <a:gd name="T71" fmla="*/ 23 h 66"/>
                <a:gd name="T72" fmla="*/ 58 w 79"/>
                <a:gd name="T73" fmla="*/ 19 h 66"/>
                <a:gd name="T74" fmla="*/ 45 w 79"/>
                <a:gd name="T75" fmla="*/ 48 h 66"/>
                <a:gd name="T76" fmla="*/ 29 w 79"/>
                <a:gd name="T77" fmla="*/ 52 h 66"/>
                <a:gd name="T78" fmla="*/ 45 w 79"/>
                <a:gd name="T79" fmla="*/ 56 h 66"/>
                <a:gd name="T80" fmla="*/ 45 w 79"/>
                <a:gd name="T81" fmla="*/ 48 h 66"/>
                <a:gd name="T82" fmla="*/ 34 w 79"/>
                <a:gd name="T83" fmla="*/ 54 h 66"/>
                <a:gd name="T84" fmla="*/ 34 w 79"/>
                <a:gd name="T85" fmla="*/ 50 h 66"/>
                <a:gd name="T86" fmla="*/ 48 w 79"/>
                <a:gd name="T87" fmla="*/ 52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9" h="66">
                  <a:moveTo>
                    <a:pt x="39" y="5"/>
                  </a:moveTo>
                  <a:cubicBezTo>
                    <a:pt x="20" y="5"/>
                    <a:pt x="5" y="21"/>
                    <a:pt x="5" y="39"/>
                  </a:cubicBezTo>
                  <a:cubicBezTo>
                    <a:pt x="5" y="47"/>
                    <a:pt x="7" y="54"/>
                    <a:pt x="12" y="60"/>
                  </a:cubicBezTo>
                  <a:cubicBezTo>
                    <a:pt x="12" y="60"/>
                    <a:pt x="12" y="60"/>
                    <a:pt x="13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71" y="54"/>
                    <a:pt x="73" y="47"/>
                    <a:pt x="73" y="39"/>
                  </a:cubicBezTo>
                  <a:cubicBezTo>
                    <a:pt x="73" y="21"/>
                    <a:pt x="58" y="5"/>
                    <a:pt x="39" y="5"/>
                  </a:cubicBezTo>
                  <a:close/>
                  <a:moveTo>
                    <a:pt x="65" y="58"/>
                  </a:moveTo>
                  <a:cubicBezTo>
                    <a:pt x="13" y="58"/>
                    <a:pt x="13" y="58"/>
                    <a:pt x="13" y="58"/>
                  </a:cubicBezTo>
                  <a:cubicBezTo>
                    <a:pt x="9" y="53"/>
                    <a:pt x="7" y="46"/>
                    <a:pt x="7" y="39"/>
                  </a:cubicBezTo>
                  <a:cubicBezTo>
                    <a:pt x="7" y="22"/>
                    <a:pt x="21" y="7"/>
                    <a:pt x="39" y="7"/>
                  </a:cubicBezTo>
                  <a:cubicBezTo>
                    <a:pt x="57" y="7"/>
                    <a:pt x="71" y="22"/>
                    <a:pt x="71" y="39"/>
                  </a:cubicBezTo>
                  <a:cubicBezTo>
                    <a:pt x="71" y="46"/>
                    <a:pt x="69" y="53"/>
                    <a:pt x="65" y="58"/>
                  </a:cubicBezTo>
                  <a:close/>
                  <a:moveTo>
                    <a:pt x="39" y="0"/>
                  </a:moveTo>
                  <a:cubicBezTo>
                    <a:pt x="17" y="0"/>
                    <a:pt x="0" y="18"/>
                    <a:pt x="0" y="40"/>
                  </a:cubicBezTo>
                  <a:cubicBezTo>
                    <a:pt x="0" y="48"/>
                    <a:pt x="2" y="56"/>
                    <a:pt x="8" y="63"/>
                  </a:cubicBezTo>
                  <a:cubicBezTo>
                    <a:pt x="9" y="65"/>
                    <a:pt x="10" y="66"/>
                    <a:pt x="12" y="66"/>
                  </a:cubicBezTo>
                  <a:cubicBezTo>
                    <a:pt x="66" y="66"/>
                    <a:pt x="66" y="66"/>
                    <a:pt x="66" y="66"/>
                  </a:cubicBezTo>
                  <a:cubicBezTo>
                    <a:pt x="68" y="66"/>
                    <a:pt x="70" y="65"/>
                    <a:pt x="71" y="63"/>
                  </a:cubicBezTo>
                  <a:cubicBezTo>
                    <a:pt x="76" y="56"/>
                    <a:pt x="79" y="48"/>
                    <a:pt x="79" y="40"/>
                  </a:cubicBezTo>
                  <a:cubicBezTo>
                    <a:pt x="79" y="18"/>
                    <a:pt x="61" y="0"/>
                    <a:pt x="39" y="0"/>
                  </a:cubicBezTo>
                  <a:close/>
                  <a:moveTo>
                    <a:pt x="68" y="62"/>
                  </a:moveTo>
                  <a:cubicBezTo>
                    <a:pt x="68" y="62"/>
                    <a:pt x="67" y="63"/>
                    <a:pt x="66" y="63"/>
                  </a:cubicBezTo>
                  <a:cubicBezTo>
                    <a:pt x="12" y="63"/>
                    <a:pt x="12" y="63"/>
                    <a:pt x="12" y="63"/>
                  </a:cubicBezTo>
                  <a:cubicBezTo>
                    <a:pt x="11" y="63"/>
                    <a:pt x="10" y="62"/>
                    <a:pt x="10" y="62"/>
                  </a:cubicBezTo>
                  <a:cubicBezTo>
                    <a:pt x="5" y="55"/>
                    <a:pt x="3" y="48"/>
                    <a:pt x="3" y="40"/>
                  </a:cubicBezTo>
                  <a:cubicBezTo>
                    <a:pt x="3" y="20"/>
                    <a:pt x="19" y="3"/>
                    <a:pt x="39" y="3"/>
                  </a:cubicBezTo>
                  <a:cubicBezTo>
                    <a:pt x="59" y="3"/>
                    <a:pt x="76" y="20"/>
                    <a:pt x="76" y="40"/>
                  </a:cubicBezTo>
                  <a:cubicBezTo>
                    <a:pt x="76" y="48"/>
                    <a:pt x="73" y="55"/>
                    <a:pt x="68" y="62"/>
                  </a:cubicBezTo>
                  <a:close/>
                  <a:moveTo>
                    <a:pt x="33" y="39"/>
                  </a:moveTo>
                  <a:cubicBezTo>
                    <a:pt x="33" y="37"/>
                    <a:pt x="34" y="36"/>
                    <a:pt x="36" y="35"/>
                  </a:cubicBezTo>
                  <a:cubicBezTo>
                    <a:pt x="37" y="30"/>
                    <a:pt x="38" y="23"/>
                    <a:pt x="38" y="23"/>
                  </a:cubicBezTo>
                  <a:cubicBezTo>
                    <a:pt x="39" y="20"/>
                    <a:pt x="39" y="20"/>
                    <a:pt x="40" y="23"/>
                  </a:cubicBezTo>
                  <a:cubicBezTo>
                    <a:pt x="40" y="23"/>
                    <a:pt x="41" y="30"/>
                    <a:pt x="42" y="35"/>
                  </a:cubicBezTo>
                  <a:cubicBezTo>
                    <a:pt x="44" y="36"/>
                    <a:pt x="45" y="37"/>
                    <a:pt x="45" y="39"/>
                  </a:cubicBezTo>
                  <a:cubicBezTo>
                    <a:pt x="45" y="43"/>
                    <a:pt x="42" y="45"/>
                    <a:pt x="39" y="45"/>
                  </a:cubicBezTo>
                  <a:cubicBezTo>
                    <a:pt x="36" y="45"/>
                    <a:pt x="33" y="43"/>
                    <a:pt x="33" y="39"/>
                  </a:cubicBezTo>
                  <a:close/>
                  <a:moveTo>
                    <a:pt x="38" y="14"/>
                  </a:moveTo>
                  <a:cubicBezTo>
                    <a:pt x="38" y="12"/>
                    <a:pt x="38" y="12"/>
                    <a:pt x="38" y="12"/>
                  </a:cubicBezTo>
                  <a:cubicBezTo>
                    <a:pt x="38" y="11"/>
                    <a:pt x="38" y="10"/>
                    <a:pt x="39" y="10"/>
                  </a:cubicBezTo>
                  <a:cubicBezTo>
                    <a:pt x="40" y="10"/>
                    <a:pt x="41" y="11"/>
                    <a:pt x="41" y="12"/>
                  </a:cubicBezTo>
                  <a:cubicBezTo>
                    <a:pt x="41" y="14"/>
                    <a:pt x="41" y="14"/>
                    <a:pt x="41" y="14"/>
                  </a:cubicBezTo>
                  <a:cubicBezTo>
                    <a:pt x="41" y="15"/>
                    <a:pt x="40" y="16"/>
                    <a:pt x="39" y="16"/>
                  </a:cubicBezTo>
                  <a:cubicBezTo>
                    <a:pt x="38" y="16"/>
                    <a:pt x="38" y="15"/>
                    <a:pt x="38" y="14"/>
                  </a:cubicBezTo>
                  <a:close/>
                  <a:moveTo>
                    <a:pt x="69" y="39"/>
                  </a:moveTo>
                  <a:cubicBezTo>
                    <a:pt x="69" y="40"/>
                    <a:pt x="68" y="41"/>
                    <a:pt x="67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4" y="41"/>
                    <a:pt x="63" y="40"/>
                    <a:pt x="63" y="39"/>
                  </a:cubicBezTo>
                  <a:cubicBezTo>
                    <a:pt x="63" y="39"/>
                    <a:pt x="64" y="38"/>
                    <a:pt x="64" y="38"/>
                  </a:cubicBezTo>
                  <a:cubicBezTo>
                    <a:pt x="67" y="38"/>
                    <a:pt x="67" y="38"/>
                    <a:pt x="67" y="38"/>
                  </a:cubicBezTo>
                  <a:cubicBezTo>
                    <a:pt x="68" y="38"/>
                    <a:pt x="69" y="39"/>
                    <a:pt x="69" y="39"/>
                  </a:cubicBezTo>
                  <a:close/>
                  <a:moveTo>
                    <a:pt x="15" y="39"/>
                  </a:moveTo>
                  <a:cubicBezTo>
                    <a:pt x="15" y="40"/>
                    <a:pt x="15" y="41"/>
                    <a:pt x="14" y="41"/>
                  </a:cubicBezTo>
                  <a:cubicBezTo>
                    <a:pt x="11" y="41"/>
                    <a:pt x="11" y="41"/>
                    <a:pt x="11" y="41"/>
                  </a:cubicBezTo>
                  <a:cubicBezTo>
                    <a:pt x="10" y="41"/>
                    <a:pt x="10" y="40"/>
                    <a:pt x="10" y="39"/>
                  </a:cubicBezTo>
                  <a:cubicBezTo>
                    <a:pt x="10" y="39"/>
                    <a:pt x="10" y="38"/>
                    <a:pt x="11" y="38"/>
                  </a:cubicBezTo>
                  <a:cubicBezTo>
                    <a:pt x="14" y="38"/>
                    <a:pt x="14" y="38"/>
                    <a:pt x="14" y="38"/>
                  </a:cubicBezTo>
                  <a:cubicBezTo>
                    <a:pt x="15" y="38"/>
                    <a:pt x="15" y="39"/>
                    <a:pt x="15" y="39"/>
                  </a:cubicBezTo>
                  <a:close/>
                  <a:moveTo>
                    <a:pt x="22" y="21"/>
                  </a:moveTo>
                  <a:cubicBezTo>
                    <a:pt x="23" y="21"/>
                    <a:pt x="23" y="22"/>
                    <a:pt x="22" y="23"/>
                  </a:cubicBezTo>
                  <a:cubicBezTo>
                    <a:pt x="22" y="23"/>
                    <a:pt x="22" y="23"/>
                    <a:pt x="21" y="23"/>
                  </a:cubicBezTo>
                  <a:cubicBezTo>
                    <a:pt x="21" y="23"/>
                    <a:pt x="20" y="23"/>
                    <a:pt x="20" y="23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8" y="20"/>
                    <a:pt x="18" y="19"/>
                    <a:pt x="18" y="19"/>
                  </a:cubicBezTo>
                  <a:cubicBezTo>
                    <a:pt x="19" y="18"/>
                    <a:pt x="20" y="18"/>
                    <a:pt x="20" y="19"/>
                  </a:cubicBezTo>
                  <a:lnTo>
                    <a:pt x="22" y="21"/>
                  </a:lnTo>
                  <a:close/>
                  <a:moveTo>
                    <a:pt x="60" y="19"/>
                  </a:moveTo>
                  <a:cubicBezTo>
                    <a:pt x="61" y="19"/>
                    <a:pt x="61" y="20"/>
                    <a:pt x="60" y="21"/>
                  </a:cubicBezTo>
                  <a:cubicBezTo>
                    <a:pt x="58" y="23"/>
                    <a:pt x="58" y="23"/>
                    <a:pt x="58" y="23"/>
                  </a:cubicBezTo>
                  <a:cubicBezTo>
                    <a:pt x="58" y="23"/>
                    <a:pt x="57" y="23"/>
                    <a:pt x="57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5" y="22"/>
                    <a:pt x="55" y="21"/>
                    <a:pt x="56" y="21"/>
                  </a:cubicBezTo>
                  <a:cubicBezTo>
                    <a:pt x="58" y="19"/>
                    <a:pt x="58" y="19"/>
                    <a:pt x="58" y="19"/>
                  </a:cubicBezTo>
                  <a:cubicBezTo>
                    <a:pt x="58" y="18"/>
                    <a:pt x="59" y="18"/>
                    <a:pt x="60" y="19"/>
                  </a:cubicBezTo>
                  <a:close/>
                  <a:moveTo>
                    <a:pt x="45" y="48"/>
                  </a:moveTo>
                  <a:cubicBezTo>
                    <a:pt x="34" y="48"/>
                    <a:pt x="34" y="48"/>
                    <a:pt x="34" y="48"/>
                  </a:cubicBezTo>
                  <a:cubicBezTo>
                    <a:pt x="31" y="48"/>
                    <a:pt x="29" y="50"/>
                    <a:pt x="29" y="52"/>
                  </a:cubicBezTo>
                  <a:cubicBezTo>
                    <a:pt x="29" y="55"/>
                    <a:pt x="31" y="56"/>
                    <a:pt x="34" y="56"/>
                  </a:cubicBezTo>
                  <a:cubicBezTo>
                    <a:pt x="45" y="56"/>
                    <a:pt x="45" y="56"/>
                    <a:pt x="45" y="56"/>
                  </a:cubicBezTo>
                  <a:cubicBezTo>
                    <a:pt x="47" y="56"/>
                    <a:pt x="50" y="55"/>
                    <a:pt x="50" y="52"/>
                  </a:cubicBezTo>
                  <a:cubicBezTo>
                    <a:pt x="50" y="50"/>
                    <a:pt x="47" y="48"/>
                    <a:pt x="45" y="48"/>
                  </a:cubicBezTo>
                  <a:close/>
                  <a:moveTo>
                    <a:pt x="45" y="54"/>
                  </a:moveTo>
                  <a:cubicBezTo>
                    <a:pt x="34" y="54"/>
                    <a:pt x="34" y="54"/>
                    <a:pt x="34" y="54"/>
                  </a:cubicBezTo>
                  <a:cubicBezTo>
                    <a:pt x="32" y="54"/>
                    <a:pt x="31" y="53"/>
                    <a:pt x="31" y="52"/>
                  </a:cubicBezTo>
                  <a:cubicBezTo>
                    <a:pt x="31" y="51"/>
                    <a:pt x="32" y="50"/>
                    <a:pt x="34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6" y="50"/>
                    <a:pt x="48" y="51"/>
                    <a:pt x="48" y="52"/>
                  </a:cubicBezTo>
                  <a:cubicBezTo>
                    <a:pt x="48" y="53"/>
                    <a:pt x="46" y="54"/>
                    <a:pt x="45" y="54"/>
                  </a:cubicBez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65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44" name="Group 63"/>
          <p:cNvGrpSpPr/>
          <p:nvPr/>
        </p:nvGrpSpPr>
        <p:grpSpPr>
          <a:xfrm>
            <a:off x="3879855" y="1892324"/>
            <a:ext cx="599844" cy="729341"/>
            <a:chOff x="2390045" y="1576926"/>
            <a:chExt cx="449883" cy="547006"/>
          </a:xfrm>
        </p:grpSpPr>
        <p:sp>
          <p:nvSpPr>
            <p:cNvPr id="45" name="TextBox 64"/>
            <p:cNvSpPr txBox="1"/>
            <p:nvPr/>
          </p:nvSpPr>
          <p:spPr>
            <a:xfrm>
              <a:off x="2390045" y="1839190"/>
              <a:ext cx="449883" cy="2847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65%</a:t>
              </a:r>
              <a:endParaRPr lang="en-ID" sz="1865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46" name="Freeform 26"/>
            <p:cNvSpPr>
              <a:spLocks noEditPoints="1"/>
            </p:cNvSpPr>
            <p:nvPr/>
          </p:nvSpPr>
          <p:spPr bwMode="auto">
            <a:xfrm>
              <a:off x="2493097" y="1576926"/>
              <a:ext cx="204905" cy="250878"/>
            </a:xfrm>
            <a:custGeom>
              <a:avLst/>
              <a:gdLst>
                <a:gd name="T0" fmla="*/ 32 w 66"/>
                <a:gd name="T1" fmla="*/ 68 h 78"/>
                <a:gd name="T2" fmla="*/ 29 w 66"/>
                <a:gd name="T3" fmla="*/ 22 h 78"/>
                <a:gd name="T4" fmla="*/ 20 w 66"/>
                <a:gd name="T5" fmla="*/ 25 h 78"/>
                <a:gd name="T6" fmla="*/ 9 w 66"/>
                <a:gd name="T7" fmla="*/ 44 h 78"/>
                <a:gd name="T8" fmla="*/ 11 w 66"/>
                <a:gd name="T9" fmla="*/ 53 h 78"/>
                <a:gd name="T10" fmla="*/ 13 w 66"/>
                <a:gd name="T11" fmla="*/ 46 h 78"/>
                <a:gd name="T12" fmla="*/ 14 w 66"/>
                <a:gd name="T13" fmla="*/ 35 h 78"/>
                <a:gd name="T14" fmla="*/ 16 w 66"/>
                <a:gd name="T15" fmla="*/ 33 h 78"/>
                <a:gd name="T16" fmla="*/ 23 w 66"/>
                <a:gd name="T17" fmla="*/ 29 h 78"/>
                <a:gd name="T18" fmla="*/ 29 w 66"/>
                <a:gd name="T19" fmla="*/ 24 h 78"/>
                <a:gd name="T20" fmla="*/ 24 w 66"/>
                <a:gd name="T21" fmla="*/ 63 h 78"/>
                <a:gd name="T22" fmla="*/ 15 w 66"/>
                <a:gd name="T23" fmla="*/ 58 h 78"/>
                <a:gd name="T24" fmla="*/ 15 w 66"/>
                <a:gd name="T25" fmla="*/ 54 h 78"/>
                <a:gd name="T26" fmla="*/ 14 w 66"/>
                <a:gd name="T27" fmla="*/ 58 h 78"/>
                <a:gd name="T28" fmla="*/ 21 w 66"/>
                <a:gd name="T29" fmla="*/ 66 h 78"/>
                <a:gd name="T30" fmla="*/ 25 w 66"/>
                <a:gd name="T31" fmla="*/ 67 h 78"/>
                <a:gd name="T32" fmla="*/ 52 w 66"/>
                <a:gd name="T33" fmla="*/ 36 h 78"/>
                <a:gd name="T34" fmla="*/ 50 w 66"/>
                <a:gd name="T35" fmla="*/ 33 h 78"/>
                <a:gd name="T36" fmla="*/ 35 w 66"/>
                <a:gd name="T37" fmla="*/ 24 h 78"/>
                <a:gd name="T38" fmla="*/ 32 w 66"/>
                <a:gd name="T39" fmla="*/ 24 h 78"/>
                <a:gd name="T40" fmla="*/ 42 w 66"/>
                <a:gd name="T41" fmla="*/ 26 h 78"/>
                <a:gd name="T42" fmla="*/ 46 w 66"/>
                <a:gd name="T43" fmla="*/ 26 h 78"/>
                <a:gd name="T44" fmla="*/ 37 w 66"/>
                <a:gd name="T45" fmla="*/ 45 h 78"/>
                <a:gd name="T46" fmla="*/ 32 w 66"/>
                <a:gd name="T47" fmla="*/ 28 h 78"/>
                <a:gd name="T48" fmla="*/ 31 w 66"/>
                <a:gd name="T49" fmla="*/ 42 h 78"/>
                <a:gd name="T50" fmla="*/ 33 w 66"/>
                <a:gd name="T51" fmla="*/ 73 h 78"/>
                <a:gd name="T52" fmla="*/ 59 w 66"/>
                <a:gd name="T53" fmla="*/ 45 h 78"/>
                <a:gd name="T54" fmla="*/ 59 w 66"/>
                <a:gd name="T55" fmla="*/ 45 h 78"/>
                <a:gd name="T56" fmla="*/ 54 w 66"/>
                <a:gd name="T57" fmla="*/ 46 h 78"/>
                <a:gd name="T58" fmla="*/ 54 w 66"/>
                <a:gd name="T59" fmla="*/ 55 h 78"/>
                <a:gd name="T60" fmla="*/ 52 w 66"/>
                <a:gd name="T61" fmla="*/ 58 h 78"/>
                <a:gd name="T62" fmla="*/ 45 w 66"/>
                <a:gd name="T63" fmla="*/ 62 h 78"/>
                <a:gd name="T64" fmla="*/ 45 w 66"/>
                <a:gd name="T65" fmla="*/ 66 h 78"/>
                <a:gd name="T66" fmla="*/ 60 w 66"/>
                <a:gd name="T67" fmla="*/ 26 h 78"/>
                <a:gd name="T68" fmla="*/ 6 w 66"/>
                <a:gd name="T69" fmla="*/ 26 h 78"/>
                <a:gd name="T70" fmla="*/ 3 w 66"/>
                <a:gd name="T71" fmla="*/ 22 h 78"/>
                <a:gd name="T72" fmla="*/ 4 w 66"/>
                <a:gd name="T73" fmla="*/ 12 h 78"/>
                <a:gd name="T74" fmla="*/ 11 w 66"/>
                <a:gd name="T75" fmla="*/ 16 h 78"/>
                <a:gd name="T76" fmla="*/ 27 w 66"/>
                <a:gd name="T77" fmla="*/ 8 h 78"/>
                <a:gd name="T78" fmla="*/ 26 w 66"/>
                <a:gd name="T79" fmla="*/ 0 h 78"/>
                <a:gd name="T80" fmla="*/ 40 w 66"/>
                <a:gd name="T81" fmla="*/ 8 h 78"/>
                <a:gd name="T82" fmla="*/ 53 w 66"/>
                <a:gd name="T83" fmla="*/ 18 h 78"/>
                <a:gd name="T84" fmla="*/ 59 w 66"/>
                <a:gd name="T85" fmla="*/ 12 h 78"/>
                <a:gd name="T86" fmla="*/ 66 w 66"/>
                <a:gd name="T87" fmla="*/ 19 h 78"/>
                <a:gd name="T88" fmla="*/ 63 w 66"/>
                <a:gd name="T89" fmla="*/ 24 h 78"/>
                <a:gd name="T90" fmla="*/ 57 w 66"/>
                <a:gd name="T91" fmla="*/ 26 h 78"/>
                <a:gd name="T92" fmla="*/ 39 w 66"/>
                <a:gd name="T93" fmla="*/ 16 h 78"/>
                <a:gd name="T94" fmla="*/ 14 w 66"/>
                <a:gd name="T95" fmla="*/ 21 h 78"/>
                <a:gd name="T96" fmla="*/ 3 w 66"/>
                <a:gd name="T97" fmla="*/ 45 h 78"/>
                <a:gd name="T98" fmla="*/ 6 w 66"/>
                <a:gd name="T99" fmla="*/ 15 h 78"/>
                <a:gd name="T100" fmla="*/ 6 w 66"/>
                <a:gd name="T101" fmla="*/ 22 h 78"/>
                <a:gd name="T102" fmla="*/ 6 w 66"/>
                <a:gd name="T103" fmla="*/ 22 h 78"/>
                <a:gd name="T104" fmla="*/ 33 w 66"/>
                <a:gd name="T105" fmla="*/ 13 h 78"/>
                <a:gd name="T106" fmla="*/ 31 w 66"/>
                <a:gd name="T107" fmla="*/ 11 h 78"/>
                <a:gd name="T108" fmla="*/ 32 w 66"/>
                <a:gd name="T109" fmla="*/ 9 h 78"/>
                <a:gd name="T110" fmla="*/ 27 w 66"/>
                <a:gd name="T111" fmla="*/ 3 h 78"/>
                <a:gd name="T112" fmla="*/ 58 w 66"/>
                <a:gd name="T113" fmla="*/ 18 h 78"/>
                <a:gd name="T114" fmla="*/ 62 w 66"/>
                <a:gd name="T115" fmla="*/ 19 h 78"/>
                <a:gd name="T116" fmla="*/ 62 w 66"/>
                <a:gd name="T117" fmla="*/ 19 h 78"/>
                <a:gd name="T118" fmla="*/ 60 w 66"/>
                <a:gd name="T119" fmla="*/ 2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6" h="78">
                  <a:moveTo>
                    <a:pt x="35" y="65"/>
                  </a:moveTo>
                  <a:cubicBezTo>
                    <a:pt x="35" y="68"/>
                    <a:pt x="35" y="68"/>
                    <a:pt x="35" y="68"/>
                  </a:cubicBezTo>
                  <a:cubicBezTo>
                    <a:pt x="35" y="69"/>
                    <a:pt x="34" y="70"/>
                    <a:pt x="33" y="70"/>
                  </a:cubicBezTo>
                  <a:cubicBezTo>
                    <a:pt x="32" y="70"/>
                    <a:pt x="32" y="69"/>
                    <a:pt x="32" y="68"/>
                  </a:cubicBezTo>
                  <a:cubicBezTo>
                    <a:pt x="32" y="65"/>
                    <a:pt x="32" y="65"/>
                    <a:pt x="32" y="65"/>
                  </a:cubicBezTo>
                  <a:cubicBezTo>
                    <a:pt x="32" y="65"/>
                    <a:pt x="32" y="64"/>
                    <a:pt x="33" y="64"/>
                  </a:cubicBezTo>
                  <a:cubicBezTo>
                    <a:pt x="34" y="64"/>
                    <a:pt x="35" y="65"/>
                    <a:pt x="35" y="65"/>
                  </a:cubicBezTo>
                  <a:close/>
                  <a:moveTo>
                    <a:pt x="29" y="22"/>
                  </a:moveTo>
                  <a:cubicBezTo>
                    <a:pt x="29" y="22"/>
                    <a:pt x="29" y="22"/>
                    <a:pt x="28" y="22"/>
                  </a:cubicBezTo>
                  <a:cubicBezTo>
                    <a:pt x="26" y="22"/>
                    <a:pt x="24" y="23"/>
                    <a:pt x="22" y="24"/>
                  </a:cubicBezTo>
                  <a:cubicBezTo>
                    <a:pt x="22" y="23"/>
                    <a:pt x="21" y="23"/>
                    <a:pt x="21" y="24"/>
                  </a:cubicBezTo>
                  <a:cubicBezTo>
                    <a:pt x="20" y="24"/>
                    <a:pt x="20" y="24"/>
                    <a:pt x="20" y="25"/>
                  </a:cubicBezTo>
                  <a:cubicBezTo>
                    <a:pt x="17" y="27"/>
                    <a:pt x="15" y="29"/>
                    <a:pt x="13" y="32"/>
                  </a:cubicBezTo>
                  <a:cubicBezTo>
                    <a:pt x="13" y="32"/>
                    <a:pt x="12" y="32"/>
                    <a:pt x="12" y="33"/>
                  </a:cubicBezTo>
                  <a:cubicBezTo>
                    <a:pt x="11" y="33"/>
                    <a:pt x="12" y="34"/>
                    <a:pt x="12" y="34"/>
                  </a:cubicBezTo>
                  <a:cubicBezTo>
                    <a:pt x="10" y="37"/>
                    <a:pt x="10" y="40"/>
                    <a:pt x="9" y="44"/>
                  </a:cubicBezTo>
                  <a:cubicBezTo>
                    <a:pt x="9" y="44"/>
                    <a:pt x="8" y="44"/>
                    <a:pt x="8" y="45"/>
                  </a:cubicBezTo>
                  <a:cubicBezTo>
                    <a:pt x="8" y="46"/>
                    <a:pt x="9" y="46"/>
                    <a:pt x="9" y="46"/>
                  </a:cubicBezTo>
                  <a:cubicBezTo>
                    <a:pt x="10" y="48"/>
                    <a:pt x="10" y="50"/>
                    <a:pt x="10" y="52"/>
                  </a:cubicBezTo>
                  <a:cubicBezTo>
                    <a:pt x="11" y="53"/>
                    <a:pt x="11" y="53"/>
                    <a:pt x="11" y="53"/>
                  </a:cubicBezTo>
                  <a:cubicBezTo>
                    <a:pt x="12" y="53"/>
                    <a:pt x="12" y="53"/>
                    <a:pt x="12" y="53"/>
                  </a:cubicBezTo>
                  <a:cubicBezTo>
                    <a:pt x="12" y="53"/>
                    <a:pt x="13" y="52"/>
                    <a:pt x="12" y="52"/>
                  </a:cubicBezTo>
                  <a:cubicBezTo>
                    <a:pt x="12" y="50"/>
                    <a:pt x="12" y="48"/>
                    <a:pt x="11" y="46"/>
                  </a:cubicBezTo>
                  <a:cubicBezTo>
                    <a:pt x="13" y="46"/>
                    <a:pt x="13" y="46"/>
                    <a:pt x="13" y="46"/>
                  </a:cubicBezTo>
                  <a:cubicBezTo>
                    <a:pt x="13" y="46"/>
                    <a:pt x="14" y="46"/>
                    <a:pt x="14" y="45"/>
                  </a:cubicBezTo>
                  <a:cubicBezTo>
                    <a:pt x="14" y="44"/>
                    <a:pt x="13" y="43"/>
                    <a:pt x="13" y="43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2" y="41"/>
                    <a:pt x="12" y="38"/>
                    <a:pt x="14" y="35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6" y="36"/>
                    <a:pt x="16" y="36"/>
                    <a:pt x="17" y="35"/>
                  </a:cubicBezTo>
                  <a:cubicBezTo>
                    <a:pt x="17" y="35"/>
                    <a:pt x="17" y="34"/>
                    <a:pt x="16" y="33"/>
                  </a:cubicBezTo>
                  <a:cubicBezTo>
                    <a:pt x="15" y="33"/>
                    <a:pt x="15" y="33"/>
                    <a:pt x="15" y="33"/>
                  </a:cubicBezTo>
                  <a:cubicBezTo>
                    <a:pt x="17" y="30"/>
                    <a:pt x="19" y="28"/>
                    <a:pt x="21" y="27"/>
                  </a:cubicBezTo>
                  <a:cubicBezTo>
                    <a:pt x="22" y="28"/>
                    <a:pt x="22" y="28"/>
                    <a:pt x="22" y="28"/>
                  </a:cubicBezTo>
                  <a:cubicBezTo>
                    <a:pt x="22" y="28"/>
                    <a:pt x="22" y="29"/>
                    <a:pt x="23" y="29"/>
                  </a:cubicBezTo>
                  <a:cubicBezTo>
                    <a:pt x="23" y="29"/>
                    <a:pt x="23" y="29"/>
                    <a:pt x="24" y="29"/>
                  </a:cubicBezTo>
                  <a:cubicBezTo>
                    <a:pt x="24" y="28"/>
                    <a:pt x="25" y="27"/>
                    <a:pt x="24" y="26"/>
                  </a:cubicBezTo>
                  <a:cubicBezTo>
                    <a:pt x="24" y="25"/>
                    <a:pt x="24" y="25"/>
                    <a:pt x="24" y="25"/>
                  </a:cubicBezTo>
                  <a:cubicBezTo>
                    <a:pt x="25" y="25"/>
                    <a:pt x="27" y="24"/>
                    <a:pt x="29" y="24"/>
                  </a:cubicBezTo>
                  <a:cubicBezTo>
                    <a:pt x="29" y="23"/>
                    <a:pt x="30" y="23"/>
                    <a:pt x="29" y="22"/>
                  </a:cubicBezTo>
                  <a:close/>
                  <a:moveTo>
                    <a:pt x="25" y="65"/>
                  </a:moveTo>
                  <a:cubicBezTo>
                    <a:pt x="24" y="65"/>
                    <a:pt x="24" y="65"/>
                    <a:pt x="24" y="64"/>
                  </a:cubicBezTo>
                  <a:cubicBezTo>
                    <a:pt x="24" y="63"/>
                    <a:pt x="24" y="63"/>
                    <a:pt x="24" y="63"/>
                  </a:cubicBezTo>
                  <a:cubicBezTo>
                    <a:pt x="25" y="63"/>
                    <a:pt x="24" y="62"/>
                    <a:pt x="24" y="61"/>
                  </a:cubicBezTo>
                  <a:cubicBezTo>
                    <a:pt x="23" y="61"/>
                    <a:pt x="22" y="61"/>
                    <a:pt x="22" y="62"/>
                  </a:cubicBezTo>
                  <a:cubicBezTo>
                    <a:pt x="21" y="63"/>
                    <a:pt x="21" y="63"/>
                    <a:pt x="21" y="63"/>
                  </a:cubicBezTo>
                  <a:cubicBezTo>
                    <a:pt x="19" y="62"/>
                    <a:pt x="17" y="60"/>
                    <a:pt x="15" y="58"/>
                  </a:cubicBezTo>
                  <a:cubicBezTo>
                    <a:pt x="15" y="57"/>
                    <a:pt x="15" y="57"/>
                    <a:pt x="14" y="58"/>
                  </a:cubicBezTo>
                  <a:cubicBezTo>
                    <a:pt x="16" y="56"/>
                    <a:pt x="16" y="56"/>
                    <a:pt x="16" y="56"/>
                  </a:cubicBezTo>
                  <a:cubicBezTo>
                    <a:pt x="17" y="56"/>
                    <a:pt x="17" y="55"/>
                    <a:pt x="17" y="54"/>
                  </a:cubicBezTo>
                  <a:cubicBezTo>
                    <a:pt x="16" y="54"/>
                    <a:pt x="15" y="53"/>
                    <a:pt x="15" y="54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6"/>
                    <a:pt x="11" y="57"/>
                    <a:pt x="12" y="57"/>
                  </a:cubicBezTo>
                  <a:cubicBezTo>
                    <a:pt x="12" y="58"/>
                    <a:pt x="13" y="58"/>
                    <a:pt x="13" y="58"/>
                  </a:cubicBezTo>
                  <a:cubicBezTo>
                    <a:pt x="13" y="58"/>
                    <a:pt x="14" y="58"/>
                    <a:pt x="14" y="58"/>
                  </a:cubicBezTo>
                  <a:cubicBezTo>
                    <a:pt x="14" y="58"/>
                    <a:pt x="14" y="58"/>
                    <a:pt x="14" y="58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6" y="61"/>
                    <a:pt x="18" y="63"/>
                    <a:pt x="20" y="65"/>
                  </a:cubicBezTo>
                  <a:cubicBezTo>
                    <a:pt x="20" y="65"/>
                    <a:pt x="20" y="66"/>
                    <a:pt x="21" y="66"/>
                  </a:cubicBezTo>
                  <a:cubicBezTo>
                    <a:pt x="21" y="66"/>
                    <a:pt x="21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3" y="66"/>
                    <a:pt x="24" y="67"/>
                    <a:pt x="24" y="67"/>
                  </a:cubicBezTo>
                  <a:cubicBezTo>
                    <a:pt x="24" y="67"/>
                    <a:pt x="24" y="67"/>
                    <a:pt x="25" y="67"/>
                  </a:cubicBezTo>
                  <a:cubicBezTo>
                    <a:pt x="25" y="67"/>
                    <a:pt x="25" y="67"/>
                    <a:pt x="26" y="66"/>
                  </a:cubicBezTo>
                  <a:cubicBezTo>
                    <a:pt x="26" y="66"/>
                    <a:pt x="25" y="65"/>
                    <a:pt x="25" y="65"/>
                  </a:cubicBezTo>
                  <a:close/>
                  <a:moveTo>
                    <a:pt x="51" y="36"/>
                  </a:moveTo>
                  <a:cubicBezTo>
                    <a:pt x="51" y="36"/>
                    <a:pt x="51" y="36"/>
                    <a:pt x="52" y="36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5" y="34"/>
                    <a:pt x="55" y="33"/>
                    <a:pt x="54" y="33"/>
                  </a:cubicBezTo>
                  <a:cubicBezTo>
                    <a:pt x="54" y="32"/>
                    <a:pt x="53" y="32"/>
                    <a:pt x="52" y="32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49" y="34"/>
                    <a:pt x="49" y="35"/>
                    <a:pt x="49" y="35"/>
                  </a:cubicBezTo>
                  <a:cubicBezTo>
                    <a:pt x="50" y="36"/>
                    <a:pt x="50" y="36"/>
                    <a:pt x="51" y="36"/>
                  </a:cubicBezTo>
                  <a:close/>
                  <a:moveTo>
                    <a:pt x="33" y="26"/>
                  </a:moveTo>
                  <a:cubicBezTo>
                    <a:pt x="34" y="26"/>
                    <a:pt x="35" y="25"/>
                    <a:pt x="35" y="24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35" y="21"/>
                    <a:pt x="34" y="20"/>
                    <a:pt x="33" y="20"/>
                  </a:cubicBezTo>
                  <a:cubicBezTo>
                    <a:pt x="32" y="20"/>
                    <a:pt x="32" y="21"/>
                    <a:pt x="32" y="22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32" y="25"/>
                    <a:pt x="32" y="26"/>
                    <a:pt x="33" y="26"/>
                  </a:cubicBezTo>
                  <a:close/>
                  <a:moveTo>
                    <a:pt x="45" y="24"/>
                  </a:moveTo>
                  <a:cubicBezTo>
                    <a:pt x="45" y="23"/>
                    <a:pt x="44" y="23"/>
                    <a:pt x="43" y="24"/>
                  </a:cubicBezTo>
                  <a:cubicBezTo>
                    <a:pt x="42" y="26"/>
                    <a:pt x="42" y="26"/>
                    <a:pt x="42" y="26"/>
                  </a:cubicBezTo>
                  <a:cubicBezTo>
                    <a:pt x="42" y="27"/>
                    <a:pt x="42" y="28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8"/>
                    <a:pt x="45" y="28"/>
                  </a:cubicBezTo>
                  <a:cubicBezTo>
                    <a:pt x="46" y="26"/>
                    <a:pt x="46" y="26"/>
                    <a:pt x="46" y="26"/>
                  </a:cubicBezTo>
                  <a:cubicBezTo>
                    <a:pt x="46" y="25"/>
                    <a:pt x="46" y="24"/>
                    <a:pt x="45" y="24"/>
                  </a:cubicBezTo>
                  <a:close/>
                  <a:moveTo>
                    <a:pt x="34" y="28"/>
                  </a:moveTo>
                  <a:cubicBezTo>
                    <a:pt x="34" y="28"/>
                    <a:pt x="37" y="35"/>
                    <a:pt x="37" y="45"/>
                  </a:cubicBezTo>
                  <a:cubicBezTo>
                    <a:pt x="37" y="45"/>
                    <a:pt x="37" y="45"/>
                    <a:pt x="37" y="45"/>
                  </a:cubicBezTo>
                  <a:cubicBezTo>
                    <a:pt x="37" y="47"/>
                    <a:pt x="35" y="49"/>
                    <a:pt x="33" y="49"/>
                  </a:cubicBezTo>
                  <a:cubicBezTo>
                    <a:pt x="31" y="49"/>
                    <a:pt x="29" y="47"/>
                    <a:pt x="29" y="45"/>
                  </a:cubicBezTo>
                  <a:cubicBezTo>
                    <a:pt x="29" y="45"/>
                    <a:pt x="29" y="45"/>
                    <a:pt x="29" y="45"/>
                  </a:cubicBezTo>
                  <a:cubicBezTo>
                    <a:pt x="29" y="35"/>
                    <a:pt x="32" y="28"/>
                    <a:pt x="32" y="28"/>
                  </a:cubicBezTo>
                  <a:cubicBezTo>
                    <a:pt x="32" y="27"/>
                    <a:pt x="34" y="27"/>
                    <a:pt x="34" y="28"/>
                  </a:cubicBezTo>
                  <a:close/>
                  <a:moveTo>
                    <a:pt x="35" y="42"/>
                  </a:moveTo>
                  <a:cubicBezTo>
                    <a:pt x="35" y="37"/>
                    <a:pt x="34" y="34"/>
                    <a:pt x="33" y="31"/>
                  </a:cubicBezTo>
                  <a:cubicBezTo>
                    <a:pt x="32" y="34"/>
                    <a:pt x="32" y="37"/>
                    <a:pt x="31" y="42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4" y="41"/>
                    <a:pt x="35" y="42"/>
                  </a:cubicBezTo>
                  <a:close/>
                  <a:moveTo>
                    <a:pt x="61" y="45"/>
                  </a:moveTo>
                  <a:cubicBezTo>
                    <a:pt x="61" y="60"/>
                    <a:pt x="49" y="73"/>
                    <a:pt x="33" y="73"/>
                  </a:cubicBezTo>
                  <a:cubicBezTo>
                    <a:pt x="18" y="73"/>
                    <a:pt x="5" y="60"/>
                    <a:pt x="5" y="45"/>
                  </a:cubicBezTo>
                  <a:cubicBezTo>
                    <a:pt x="5" y="29"/>
                    <a:pt x="18" y="17"/>
                    <a:pt x="33" y="17"/>
                  </a:cubicBezTo>
                  <a:cubicBezTo>
                    <a:pt x="49" y="17"/>
                    <a:pt x="61" y="29"/>
                    <a:pt x="61" y="45"/>
                  </a:cubicBezTo>
                  <a:close/>
                  <a:moveTo>
                    <a:pt x="59" y="45"/>
                  </a:moveTo>
                  <a:cubicBezTo>
                    <a:pt x="59" y="30"/>
                    <a:pt x="48" y="19"/>
                    <a:pt x="33" y="19"/>
                  </a:cubicBezTo>
                  <a:cubicBezTo>
                    <a:pt x="19" y="19"/>
                    <a:pt x="7" y="30"/>
                    <a:pt x="7" y="45"/>
                  </a:cubicBezTo>
                  <a:cubicBezTo>
                    <a:pt x="7" y="59"/>
                    <a:pt x="19" y="71"/>
                    <a:pt x="33" y="71"/>
                  </a:cubicBezTo>
                  <a:cubicBezTo>
                    <a:pt x="48" y="71"/>
                    <a:pt x="59" y="59"/>
                    <a:pt x="59" y="45"/>
                  </a:cubicBezTo>
                  <a:close/>
                  <a:moveTo>
                    <a:pt x="56" y="43"/>
                  </a:moveTo>
                  <a:cubicBezTo>
                    <a:pt x="54" y="43"/>
                    <a:pt x="54" y="43"/>
                    <a:pt x="54" y="43"/>
                  </a:cubicBezTo>
                  <a:cubicBezTo>
                    <a:pt x="53" y="43"/>
                    <a:pt x="52" y="44"/>
                    <a:pt x="52" y="45"/>
                  </a:cubicBezTo>
                  <a:cubicBezTo>
                    <a:pt x="52" y="46"/>
                    <a:pt x="53" y="46"/>
                    <a:pt x="54" y="46"/>
                  </a:cubicBezTo>
                  <a:cubicBezTo>
                    <a:pt x="56" y="46"/>
                    <a:pt x="56" y="46"/>
                    <a:pt x="56" y="46"/>
                  </a:cubicBezTo>
                  <a:cubicBezTo>
                    <a:pt x="57" y="46"/>
                    <a:pt x="58" y="46"/>
                    <a:pt x="58" y="45"/>
                  </a:cubicBezTo>
                  <a:cubicBezTo>
                    <a:pt x="58" y="44"/>
                    <a:pt x="57" y="43"/>
                    <a:pt x="56" y="43"/>
                  </a:cubicBezTo>
                  <a:close/>
                  <a:moveTo>
                    <a:pt x="54" y="55"/>
                  </a:moveTo>
                  <a:cubicBezTo>
                    <a:pt x="52" y="54"/>
                    <a:pt x="52" y="54"/>
                    <a:pt x="52" y="54"/>
                  </a:cubicBezTo>
                  <a:cubicBezTo>
                    <a:pt x="51" y="53"/>
                    <a:pt x="50" y="54"/>
                    <a:pt x="49" y="54"/>
                  </a:cubicBezTo>
                  <a:cubicBezTo>
                    <a:pt x="49" y="55"/>
                    <a:pt x="49" y="56"/>
                    <a:pt x="50" y="56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3" y="58"/>
                    <a:pt x="53" y="58"/>
                    <a:pt x="53" y="58"/>
                  </a:cubicBezTo>
                  <a:cubicBezTo>
                    <a:pt x="54" y="58"/>
                    <a:pt x="54" y="58"/>
                    <a:pt x="54" y="57"/>
                  </a:cubicBezTo>
                  <a:cubicBezTo>
                    <a:pt x="55" y="57"/>
                    <a:pt x="55" y="56"/>
                    <a:pt x="54" y="55"/>
                  </a:cubicBezTo>
                  <a:close/>
                  <a:moveTo>
                    <a:pt x="45" y="62"/>
                  </a:moveTo>
                  <a:cubicBezTo>
                    <a:pt x="44" y="61"/>
                    <a:pt x="43" y="61"/>
                    <a:pt x="43" y="61"/>
                  </a:cubicBezTo>
                  <a:cubicBezTo>
                    <a:pt x="42" y="62"/>
                    <a:pt x="42" y="63"/>
                    <a:pt x="42" y="63"/>
                  </a:cubicBezTo>
                  <a:cubicBezTo>
                    <a:pt x="43" y="66"/>
                    <a:pt x="43" y="66"/>
                    <a:pt x="43" y="66"/>
                  </a:cubicBezTo>
                  <a:cubicBezTo>
                    <a:pt x="44" y="66"/>
                    <a:pt x="44" y="66"/>
                    <a:pt x="45" y="66"/>
                  </a:cubicBezTo>
                  <a:cubicBezTo>
                    <a:pt x="45" y="66"/>
                    <a:pt x="45" y="66"/>
                    <a:pt x="45" y="66"/>
                  </a:cubicBezTo>
                  <a:cubicBezTo>
                    <a:pt x="46" y="66"/>
                    <a:pt x="46" y="65"/>
                    <a:pt x="46" y="64"/>
                  </a:cubicBezTo>
                  <a:lnTo>
                    <a:pt x="45" y="62"/>
                  </a:lnTo>
                  <a:close/>
                  <a:moveTo>
                    <a:pt x="60" y="26"/>
                  </a:moveTo>
                  <a:cubicBezTo>
                    <a:pt x="64" y="32"/>
                    <a:pt x="66" y="38"/>
                    <a:pt x="66" y="45"/>
                  </a:cubicBezTo>
                  <a:cubicBezTo>
                    <a:pt x="66" y="63"/>
                    <a:pt x="51" y="78"/>
                    <a:pt x="33" y="78"/>
                  </a:cubicBezTo>
                  <a:cubicBezTo>
                    <a:pt x="15" y="78"/>
                    <a:pt x="0" y="63"/>
                    <a:pt x="0" y="45"/>
                  </a:cubicBezTo>
                  <a:cubicBezTo>
                    <a:pt x="0" y="38"/>
                    <a:pt x="2" y="32"/>
                    <a:pt x="6" y="26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3" y="23"/>
                    <a:pt x="3" y="23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0" y="19"/>
                    <a:pt x="0" y="19"/>
                    <a:pt x="0" y="19"/>
                  </a:cubicBezTo>
                  <a:cubicBezTo>
                    <a:pt x="0" y="19"/>
                    <a:pt x="0" y="19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5" y="12"/>
                    <a:pt x="7" y="12"/>
                    <a:pt x="7" y="12"/>
                  </a:cubicBezTo>
                  <a:cubicBezTo>
                    <a:pt x="9" y="15"/>
                    <a:pt x="9" y="15"/>
                    <a:pt x="9" y="15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0" y="15"/>
                    <a:pt x="11" y="15"/>
                    <a:pt x="11" y="16"/>
                  </a:cubicBezTo>
                  <a:cubicBezTo>
                    <a:pt x="14" y="18"/>
                    <a:pt x="14" y="18"/>
                    <a:pt x="14" y="18"/>
                  </a:cubicBezTo>
                  <a:cubicBezTo>
                    <a:pt x="17" y="16"/>
                    <a:pt x="21" y="14"/>
                    <a:pt x="25" y="13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25" y="9"/>
                    <a:pt x="26" y="8"/>
                    <a:pt x="27" y="8"/>
                  </a:cubicBezTo>
                  <a:cubicBezTo>
                    <a:pt x="26" y="8"/>
                    <a:pt x="26" y="8"/>
                    <a:pt x="26" y="8"/>
                  </a:cubicBezTo>
                  <a:cubicBezTo>
                    <a:pt x="25" y="8"/>
                    <a:pt x="24" y="7"/>
                    <a:pt x="24" y="6"/>
                  </a:cubicBezTo>
                  <a:cubicBezTo>
                    <a:pt x="24" y="2"/>
                    <a:pt x="24" y="2"/>
                    <a:pt x="24" y="2"/>
                  </a:cubicBezTo>
                  <a:cubicBezTo>
                    <a:pt x="24" y="1"/>
                    <a:pt x="25" y="0"/>
                    <a:pt x="26" y="0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41" y="0"/>
                    <a:pt x="42" y="1"/>
                    <a:pt x="42" y="2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42" y="7"/>
                    <a:pt x="41" y="8"/>
                    <a:pt x="40" y="8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1" y="8"/>
                    <a:pt x="41" y="9"/>
                    <a:pt x="41" y="10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5" y="14"/>
                    <a:pt x="49" y="16"/>
                    <a:pt x="53" y="18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55" y="15"/>
                    <a:pt x="56" y="15"/>
                    <a:pt x="56" y="15"/>
                  </a:cubicBezTo>
                  <a:cubicBezTo>
                    <a:pt x="56" y="15"/>
                    <a:pt x="57" y="15"/>
                    <a:pt x="57" y="15"/>
                  </a:cubicBezTo>
                  <a:cubicBezTo>
                    <a:pt x="59" y="12"/>
                    <a:pt x="59" y="12"/>
                    <a:pt x="59" y="12"/>
                  </a:cubicBezTo>
                  <a:cubicBezTo>
                    <a:pt x="60" y="12"/>
                    <a:pt x="61" y="12"/>
                    <a:pt x="62" y="12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6" y="17"/>
                    <a:pt x="66" y="18"/>
                    <a:pt x="66" y="18"/>
                  </a:cubicBezTo>
                  <a:cubicBezTo>
                    <a:pt x="66" y="19"/>
                    <a:pt x="66" y="19"/>
                    <a:pt x="66" y="19"/>
                  </a:cubicBezTo>
                  <a:cubicBezTo>
                    <a:pt x="64" y="22"/>
                    <a:pt x="64" y="22"/>
                    <a:pt x="64" y="22"/>
                  </a:cubicBezTo>
                  <a:cubicBezTo>
                    <a:pt x="64" y="22"/>
                    <a:pt x="63" y="22"/>
                    <a:pt x="63" y="22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3" y="23"/>
                    <a:pt x="63" y="23"/>
                    <a:pt x="63" y="24"/>
                  </a:cubicBezTo>
                  <a:lnTo>
                    <a:pt x="60" y="26"/>
                  </a:lnTo>
                  <a:close/>
                  <a:moveTo>
                    <a:pt x="63" y="45"/>
                  </a:moveTo>
                  <a:cubicBezTo>
                    <a:pt x="63" y="38"/>
                    <a:pt x="61" y="32"/>
                    <a:pt x="57" y="26"/>
                  </a:cubicBezTo>
                  <a:cubicBezTo>
                    <a:pt x="57" y="26"/>
                    <a:pt x="57" y="26"/>
                    <a:pt x="57" y="26"/>
                  </a:cubicBezTo>
                  <a:cubicBezTo>
                    <a:pt x="55" y="25"/>
                    <a:pt x="54" y="23"/>
                    <a:pt x="52" y="22"/>
                  </a:cubicBezTo>
                  <a:cubicBezTo>
                    <a:pt x="52" y="22"/>
                    <a:pt x="52" y="21"/>
                    <a:pt x="52" y="21"/>
                  </a:cubicBezTo>
                  <a:cubicBezTo>
                    <a:pt x="48" y="19"/>
                    <a:pt x="44" y="16"/>
                    <a:pt x="40" y="15"/>
                  </a:cubicBezTo>
                  <a:cubicBezTo>
                    <a:pt x="39" y="15"/>
                    <a:pt x="39" y="16"/>
                    <a:pt x="39" y="16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35" y="15"/>
                    <a:pt x="31" y="15"/>
                    <a:pt x="27" y="16"/>
                  </a:cubicBezTo>
                  <a:cubicBezTo>
                    <a:pt x="27" y="16"/>
                    <a:pt x="27" y="15"/>
                    <a:pt x="27" y="15"/>
                  </a:cubicBezTo>
                  <a:cubicBezTo>
                    <a:pt x="22" y="16"/>
                    <a:pt x="18" y="19"/>
                    <a:pt x="14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12" y="23"/>
                    <a:pt x="11" y="25"/>
                    <a:pt x="9" y="26"/>
                  </a:cubicBezTo>
                  <a:cubicBezTo>
                    <a:pt x="9" y="26"/>
                    <a:pt x="9" y="26"/>
                    <a:pt x="9" y="26"/>
                  </a:cubicBezTo>
                  <a:cubicBezTo>
                    <a:pt x="5" y="32"/>
                    <a:pt x="3" y="38"/>
                    <a:pt x="3" y="45"/>
                  </a:cubicBezTo>
                  <a:cubicBezTo>
                    <a:pt x="3" y="62"/>
                    <a:pt x="16" y="75"/>
                    <a:pt x="33" y="75"/>
                  </a:cubicBezTo>
                  <a:cubicBezTo>
                    <a:pt x="50" y="75"/>
                    <a:pt x="63" y="62"/>
                    <a:pt x="63" y="45"/>
                  </a:cubicBezTo>
                  <a:close/>
                  <a:moveTo>
                    <a:pt x="7" y="16"/>
                  </a:moveTo>
                  <a:cubicBezTo>
                    <a:pt x="6" y="15"/>
                    <a:pt x="6" y="15"/>
                    <a:pt x="6" y="15"/>
                  </a:cubicBezTo>
                  <a:cubicBezTo>
                    <a:pt x="3" y="18"/>
                    <a:pt x="3" y="18"/>
                    <a:pt x="3" y="18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7" y="16"/>
                  </a:lnTo>
                  <a:close/>
                  <a:moveTo>
                    <a:pt x="6" y="22"/>
                  </a:moveTo>
                  <a:cubicBezTo>
                    <a:pt x="9" y="24"/>
                    <a:pt x="9" y="24"/>
                    <a:pt x="9" y="24"/>
                  </a:cubicBezTo>
                  <a:cubicBezTo>
                    <a:pt x="10" y="23"/>
                    <a:pt x="11" y="22"/>
                    <a:pt x="12" y="21"/>
                  </a:cubicBezTo>
                  <a:cubicBezTo>
                    <a:pt x="10" y="19"/>
                    <a:pt x="10" y="19"/>
                    <a:pt x="10" y="19"/>
                  </a:cubicBezTo>
                  <a:lnTo>
                    <a:pt x="6" y="22"/>
                  </a:lnTo>
                  <a:close/>
                  <a:moveTo>
                    <a:pt x="31" y="11"/>
                  </a:moveTo>
                  <a:cubicBezTo>
                    <a:pt x="28" y="11"/>
                    <a:pt x="28" y="11"/>
                    <a:pt x="28" y="11"/>
                  </a:cubicBezTo>
                  <a:cubicBezTo>
                    <a:pt x="28" y="13"/>
                    <a:pt x="28" y="13"/>
                    <a:pt x="28" y="13"/>
                  </a:cubicBezTo>
                  <a:cubicBezTo>
                    <a:pt x="30" y="13"/>
                    <a:pt x="31" y="13"/>
                    <a:pt x="33" y="13"/>
                  </a:cubicBezTo>
                  <a:cubicBezTo>
                    <a:pt x="35" y="13"/>
                    <a:pt x="37" y="13"/>
                    <a:pt x="38" y="13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35" y="11"/>
                    <a:pt x="35" y="11"/>
                    <a:pt x="35" y="11"/>
                  </a:cubicBezTo>
                  <a:lnTo>
                    <a:pt x="31" y="11"/>
                  </a:lnTo>
                  <a:close/>
                  <a:moveTo>
                    <a:pt x="34" y="9"/>
                  </a:moveTo>
                  <a:cubicBezTo>
                    <a:pt x="34" y="7"/>
                    <a:pt x="34" y="7"/>
                    <a:pt x="34" y="7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9"/>
                    <a:pt x="32" y="9"/>
                    <a:pt x="32" y="9"/>
                  </a:cubicBezTo>
                  <a:lnTo>
                    <a:pt x="34" y="9"/>
                  </a:lnTo>
                  <a:close/>
                  <a:moveTo>
                    <a:pt x="39" y="5"/>
                  </a:moveTo>
                  <a:cubicBezTo>
                    <a:pt x="39" y="3"/>
                    <a:pt x="39" y="3"/>
                    <a:pt x="39" y="3"/>
                  </a:cubicBezTo>
                  <a:cubicBezTo>
                    <a:pt x="27" y="3"/>
                    <a:pt x="27" y="3"/>
                    <a:pt x="27" y="3"/>
                  </a:cubicBezTo>
                  <a:cubicBezTo>
                    <a:pt x="27" y="5"/>
                    <a:pt x="27" y="5"/>
                    <a:pt x="27" y="5"/>
                  </a:cubicBezTo>
                  <a:lnTo>
                    <a:pt x="39" y="5"/>
                  </a:lnTo>
                  <a:close/>
                  <a:moveTo>
                    <a:pt x="59" y="18"/>
                  </a:moveTo>
                  <a:cubicBezTo>
                    <a:pt x="58" y="18"/>
                    <a:pt x="58" y="18"/>
                    <a:pt x="58" y="18"/>
                  </a:cubicBezTo>
                  <a:cubicBezTo>
                    <a:pt x="60" y="20"/>
                    <a:pt x="60" y="20"/>
                    <a:pt x="60" y="20"/>
                  </a:cubicBezTo>
                  <a:cubicBezTo>
                    <a:pt x="60" y="20"/>
                    <a:pt x="60" y="20"/>
                    <a:pt x="60" y="20"/>
                  </a:cubicBezTo>
                  <a:lnTo>
                    <a:pt x="59" y="18"/>
                  </a:lnTo>
                  <a:close/>
                  <a:moveTo>
                    <a:pt x="62" y="19"/>
                  </a:moveTo>
                  <a:cubicBezTo>
                    <a:pt x="63" y="18"/>
                    <a:pt x="63" y="18"/>
                    <a:pt x="63" y="18"/>
                  </a:cubicBezTo>
                  <a:cubicBezTo>
                    <a:pt x="60" y="15"/>
                    <a:pt x="60" y="15"/>
                    <a:pt x="60" y="15"/>
                  </a:cubicBezTo>
                  <a:cubicBezTo>
                    <a:pt x="60" y="16"/>
                    <a:pt x="60" y="16"/>
                    <a:pt x="60" y="16"/>
                  </a:cubicBezTo>
                  <a:lnTo>
                    <a:pt x="62" y="19"/>
                  </a:lnTo>
                  <a:close/>
                  <a:moveTo>
                    <a:pt x="56" y="19"/>
                  </a:moveTo>
                  <a:cubicBezTo>
                    <a:pt x="54" y="21"/>
                    <a:pt x="54" y="21"/>
                    <a:pt x="54" y="21"/>
                  </a:cubicBezTo>
                  <a:cubicBezTo>
                    <a:pt x="55" y="22"/>
                    <a:pt x="57" y="23"/>
                    <a:pt x="58" y="24"/>
                  </a:cubicBezTo>
                  <a:cubicBezTo>
                    <a:pt x="60" y="22"/>
                    <a:pt x="60" y="22"/>
                    <a:pt x="60" y="22"/>
                  </a:cubicBezTo>
                  <a:lnTo>
                    <a:pt x="56" y="19"/>
                  </a:ln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65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grpSp>
        <p:nvGrpSpPr>
          <p:cNvPr id="47" name="Group 66"/>
          <p:cNvGrpSpPr/>
          <p:nvPr/>
        </p:nvGrpSpPr>
        <p:grpSpPr>
          <a:xfrm>
            <a:off x="2631440" y="4091575"/>
            <a:ext cx="653415" cy="697644"/>
            <a:chOff x="1512792" y="2314820"/>
            <a:chExt cx="490061" cy="523233"/>
          </a:xfrm>
        </p:grpSpPr>
        <p:sp>
          <p:nvSpPr>
            <p:cNvPr id="48" name="TextBox 67"/>
            <p:cNvSpPr txBox="1"/>
            <p:nvPr/>
          </p:nvSpPr>
          <p:spPr>
            <a:xfrm>
              <a:off x="1512792" y="2554208"/>
              <a:ext cx="490061" cy="2838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0.2</a:t>
              </a:r>
              <a:r>
                <a:rPr lang="en-ID" sz="1865" dirty="0">
                  <a:solidFill>
                    <a:schemeClr val="tx2"/>
                  </a:solidFill>
                  <a:latin typeface="Calibri" panose="020F0502020204030204" pitchFamily="34" charset="0"/>
                  <a:ea typeface="微软雅黑" panose="020B0503020204020204" pitchFamily="34" charset="-122"/>
                  <a:sym typeface="Calibri" panose="020F0502020204030204" pitchFamily="34" charset="0"/>
                </a:rPr>
                <a:t>%</a:t>
              </a:r>
              <a:endParaRPr lang="en-ID" sz="1865" dirty="0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  <p:sp>
          <p:nvSpPr>
            <p:cNvPr id="49" name="Freeform 28"/>
            <p:cNvSpPr>
              <a:spLocks noEditPoints="1"/>
            </p:cNvSpPr>
            <p:nvPr/>
          </p:nvSpPr>
          <p:spPr bwMode="auto">
            <a:xfrm>
              <a:off x="1612811" y="2314820"/>
              <a:ext cx="239057" cy="248251"/>
            </a:xfrm>
            <a:custGeom>
              <a:avLst/>
              <a:gdLst>
                <a:gd name="T0" fmla="*/ 37 w 77"/>
                <a:gd name="T1" fmla="*/ 32 h 77"/>
                <a:gd name="T2" fmla="*/ 21 w 77"/>
                <a:gd name="T3" fmla="*/ 54 h 77"/>
                <a:gd name="T4" fmla="*/ 33 w 77"/>
                <a:gd name="T5" fmla="*/ 48 h 77"/>
                <a:gd name="T6" fmla="*/ 45 w 77"/>
                <a:gd name="T7" fmla="*/ 37 h 77"/>
                <a:gd name="T8" fmla="*/ 34 w 77"/>
                <a:gd name="T9" fmla="*/ 40 h 77"/>
                <a:gd name="T10" fmla="*/ 37 w 77"/>
                <a:gd name="T11" fmla="*/ 43 h 77"/>
                <a:gd name="T12" fmla="*/ 37 w 77"/>
                <a:gd name="T13" fmla="*/ 34 h 77"/>
                <a:gd name="T14" fmla="*/ 34 w 77"/>
                <a:gd name="T15" fmla="*/ 37 h 77"/>
                <a:gd name="T16" fmla="*/ 43 w 77"/>
                <a:gd name="T17" fmla="*/ 40 h 77"/>
                <a:gd name="T18" fmla="*/ 40 w 77"/>
                <a:gd name="T19" fmla="*/ 43 h 77"/>
                <a:gd name="T20" fmla="*/ 43 w 77"/>
                <a:gd name="T21" fmla="*/ 40 h 77"/>
                <a:gd name="T22" fmla="*/ 56 w 77"/>
                <a:gd name="T23" fmla="*/ 16 h 77"/>
                <a:gd name="T24" fmla="*/ 17 w 77"/>
                <a:gd name="T25" fmla="*/ 16 h 77"/>
                <a:gd name="T26" fmla="*/ 12 w 77"/>
                <a:gd name="T27" fmla="*/ 21 h 77"/>
                <a:gd name="T28" fmla="*/ 17 w 77"/>
                <a:gd name="T29" fmla="*/ 60 h 77"/>
                <a:gd name="T30" fmla="*/ 37 w 77"/>
                <a:gd name="T31" fmla="*/ 72 h 77"/>
                <a:gd name="T32" fmla="*/ 57 w 77"/>
                <a:gd name="T33" fmla="*/ 60 h 77"/>
                <a:gd name="T34" fmla="*/ 61 w 77"/>
                <a:gd name="T35" fmla="*/ 21 h 77"/>
                <a:gd name="T36" fmla="*/ 60 w 77"/>
                <a:gd name="T37" fmla="*/ 58 h 77"/>
                <a:gd name="T38" fmla="*/ 55 w 77"/>
                <a:gd name="T39" fmla="*/ 64 h 77"/>
                <a:gd name="T40" fmla="*/ 19 w 77"/>
                <a:gd name="T41" fmla="*/ 59 h 77"/>
                <a:gd name="T42" fmla="*/ 13 w 77"/>
                <a:gd name="T43" fmla="*/ 22 h 77"/>
                <a:gd name="T44" fmla="*/ 19 w 77"/>
                <a:gd name="T45" fmla="*/ 17 h 77"/>
                <a:gd name="T46" fmla="*/ 55 w 77"/>
                <a:gd name="T47" fmla="*/ 21 h 77"/>
                <a:gd name="T48" fmla="*/ 60 w 77"/>
                <a:gd name="T49" fmla="*/ 58 h 77"/>
                <a:gd name="T50" fmla="*/ 66 w 77"/>
                <a:gd name="T51" fmla="*/ 1 h 77"/>
                <a:gd name="T52" fmla="*/ 65 w 77"/>
                <a:gd name="T53" fmla="*/ 8 h 77"/>
                <a:gd name="T54" fmla="*/ 60 w 77"/>
                <a:gd name="T55" fmla="*/ 7 h 77"/>
                <a:gd name="T56" fmla="*/ 11 w 77"/>
                <a:gd name="T57" fmla="*/ 14 h 77"/>
                <a:gd name="T58" fmla="*/ 37 w 77"/>
                <a:gd name="T59" fmla="*/ 77 h 77"/>
                <a:gd name="T60" fmla="*/ 67 w 77"/>
                <a:gd name="T61" fmla="*/ 20 h 77"/>
                <a:gd name="T62" fmla="*/ 68 w 77"/>
                <a:gd name="T63" fmla="*/ 13 h 77"/>
                <a:gd name="T64" fmla="*/ 73 w 77"/>
                <a:gd name="T65" fmla="*/ 15 h 77"/>
                <a:gd name="T66" fmla="*/ 76 w 77"/>
                <a:gd name="T67" fmla="*/ 10 h 77"/>
                <a:gd name="T68" fmla="*/ 13 w 77"/>
                <a:gd name="T69" fmla="*/ 64 h 77"/>
                <a:gd name="T70" fmla="*/ 37 w 77"/>
                <a:gd name="T71" fmla="*/ 7 h 77"/>
                <a:gd name="T72" fmla="*/ 61 w 77"/>
                <a:gd name="T73" fmla="*/ 64 h 77"/>
                <a:gd name="T74" fmla="*/ 59 w 77"/>
                <a:gd name="T75" fmla="*/ 11 h 77"/>
                <a:gd name="T76" fmla="*/ 66 w 77"/>
                <a:gd name="T77" fmla="*/ 14 h 77"/>
                <a:gd name="T78" fmla="*/ 66 w 77"/>
                <a:gd name="T79" fmla="*/ 18 h 77"/>
                <a:gd name="T80" fmla="*/ 67 w 77"/>
                <a:gd name="T81" fmla="*/ 9 h 77"/>
                <a:gd name="T82" fmla="*/ 66 w 77"/>
                <a:gd name="T83" fmla="*/ 11 h 77"/>
                <a:gd name="T84" fmla="*/ 66 w 77"/>
                <a:gd name="T85" fmla="*/ 3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7" h="77">
                  <a:moveTo>
                    <a:pt x="51" y="25"/>
                  </a:moveTo>
                  <a:cubicBezTo>
                    <a:pt x="40" y="33"/>
                    <a:pt x="40" y="33"/>
                    <a:pt x="40" y="33"/>
                  </a:cubicBezTo>
                  <a:cubicBezTo>
                    <a:pt x="39" y="32"/>
                    <a:pt x="38" y="32"/>
                    <a:pt x="37" y="32"/>
                  </a:cubicBezTo>
                  <a:cubicBezTo>
                    <a:pt x="32" y="32"/>
                    <a:pt x="28" y="36"/>
                    <a:pt x="28" y="40"/>
                  </a:cubicBezTo>
                  <a:cubicBezTo>
                    <a:pt x="28" y="42"/>
                    <a:pt x="28" y="43"/>
                    <a:pt x="29" y="44"/>
                  </a:cubicBezTo>
                  <a:cubicBezTo>
                    <a:pt x="21" y="54"/>
                    <a:pt x="21" y="54"/>
                    <a:pt x="21" y="54"/>
                  </a:cubicBezTo>
                  <a:cubicBezTo>
                    <a:pt x="21" y="55"/>
                    <a:pt x="21" y="55"/>
                    <a:pt x="21" y="56"/>
                  </a:cubicBezTo>
                  <a:cubicBezTo>
                    <a:pt x="22" y="56"/>
                    <a:pt x="22" y="56"/>
                    <a:pt x="23" y="56"/>
                  </a:cubicBezTo>
                  <a:cubicBezTo>
                    <a:pt x="33" y="48"/>
                    <a:pt x="33" y="48"/>
                    <a:pt x="33" y="48"/>
                  </a:cubicBezTo>
                  <a:cubicBezTo>
                    <a:pt x="34" y="49"/>
                    <a:pt x="35" y="49"/>
                    <a:pt x="37" y="49"/>
                  </a:cubicBezTo>
                  <a:cubicBezTo>
                    <a:pt x="41" y="49"/>
                    <a:pt x="45" y="45"/>
                    <a:pt x="45" y="40"/>
                  </a:cubicBezTo>
                  <a:cubicBezTo>
                    <a:pt x="45" y="39"/>
                    <a:pt x="45" y="38"/>
                    <a:pt x="45" y="37"/>
                  </a:cubicBezTo>
                  <a:cubicBezTo>
                    <a:pt x="52" y="26"/>
                    <a:pt x="52" y="26"/>
                    <a:pt x="52" y="26"/>
                  </a:cubicBezTo>
                  <a:cubicBezTo>
                    <a:pt x="53" y="25"/>
                    <a:pt x="52" y="24"/>
                    <a:pt x="51" y="25"/>
                  </a:cubicBezTo>
                  <a:close/>
                  <a:moveTo>
                    <a:pt x="34" y="40"/>
                  </a:moveTo>
                  <a:cubicBezTo>
                    <a:pt x="34" y="39"/>
                    <a:pt x="35" y="38"/>
                    <a:pt x="37" y="38"/>
                  </a:cubicBezTo>
                  <a:cubicBezTo>
                    <a:pt x="38" y="38"/>
                    <a:pt x="39" y="39"/>
                    <a:pt x="39" y="40"/>
                  </a:cubicBezTo>
                  <a:cubicBezTo>
                    <a:pt x="39" y="42"/>
                    <a:pt x="38" y="43"/>
                    <a:pt x="37" y="43"/>
                  </a:cubicBezTo>
                  <a:cubicBezTo>
                    <a:pt x="35" y="43"/>
                    <a:pt x="34" y="42"/>
                    <a:pt x="34" y="40"/>
                  </a:cubicBezTo>
                  <a:close/>
                  <a:moveTo>
                    <a:pt x="30" y="40"/>
                  </a:moveTo>
                  <a:cubicBezTo>
                    <a:pt x="30" y="37"/>
                    <a:pt x="33" y="34"/>
                    <a:pt x="37" y="34"/>
                  </a:cubicBezTo>
                  <a:cubicBezTo>
                    <a:pt x="37" y="34"/>
                    <a:pt x="38" y="34"/>
                    <a:pt x="38" y="34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0" y="42"/>
                    <a:pt x="30" y="42"/>
                    <a:pt x="30" y="42"/>
                  </a:cubicBezTo>
                  <a:cubicBezTo>
                    <a:pt x="30" y="41"/>
                    <a:pt x="30" y="41"/>
                    <a:pt x="30" y="40"/>
                  </a:cubicBezTo>
                  <a:close/>
                  <a:moveTo>
                    <a:pt x="43" y="40"/>
                  </a:moveTo>
                  <a:cubicBezTo>
                    <a:pt x="43" y="44"/>
                    <a:pt x="40" y="47"/>
                    <a:pt x="37" y="47"/>
                  </a:cubicBezTo>
                  <a:cubicBezTo>
                    <a:pt x="36" y="47"/>
                    <a:pt x="36" y="47"/>
                    <a:pt x="35" y="47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3" y="39"/>
                    <a:pt x="43" y="40"/>
                    <a:pt x="43" y="40"/>
                  </a:cubicBezTo>
                  <a:close/>
                  <a:moveTo>
                    <a:pt x="57" y="20"/>
                  </a:moveTo>
                  <a:cubicBezTo>
                    <a:pt x="57" y="17"/>
                    <a:pt x="57" y="17"/>
                    <a:pt x="57" y="17"/>
                  </a:cubicBezTo>
                  <a:cubicBezTo>
                    <a:pt x="57" y="16"/>
                    <a:pt x="57" y="16"/>
                    <a:pt x="56" y="16"/>
                  </a:cubicBezTo>
                  <a:cubicBezTo>
                    <a:pt x="51" y="11"/>
                    <a:pt x="44" y="9"/>
                    <a:pt x="37" y="9"/>
                  </a:cubicBezTo>
                  <a:cubicBezTo>
                    <a:pt x="30" y="9"/>
                    <a:pt x="23" y="11"/>
                    <a:pt x="17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3" y="20"/>
                    <a:pt x="13" y="20"/>
                    <a:pt x="13" y="20"/>
                  </a:cubicBezTo>
                  <a:cubicBezTo>
                    <a:pt x="12" y="20"/>
                    <a:pt x="12" y="20"/>
                    <a:pt x="12" y="21"/>
                  </a:cubicBezTo>
                  <a:cubicBezTo>
                    <a:pt x="3" y="32"/>
                    <a:pt x="3" y="48"/>
                    <a:pt x="12" y="60"/>
                  </a:cubicBezTo>
                  <a:cubicBezTo>
                    <a:pt x="12" y="60"/>
                    <a:pt x="12" y="60"/>
                    <a:pt x="12" y="60"/>
                  </a:cubicBezTo>
                  <a:cubicBezTo>
                    <a:pt x="17" y="60"/>
                    <a:pt x="17" y="60"/>
                    <a:pt x="17" y="60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17" y="65"/>
                    <a:pt x="17" y="65"/>
                    <a:pt x="17" y="65"/>
                  </a:cubicBezTo>
                  <a:cubicBezTo>
                    <a:pt x="23" y="70"/>
                    <a:pt x="30" y="72"/>
                    <a:pt x="37" y="72"/>
                  </a:cubicBezTo>
                  <a:cubicBezTo>
                    <a:pt x="44" y="72"/>
                    <a:pt x="51" y="70"/>
                    <a:pt x="56" y="65"/>
                  </a:cubicBezTo>
                  <a:cubicBezTo>
                    <a:pt x="57" y="65"/>
                    <a:pt x="57" y="65"/>
                    <a:pt x="57" y="64"/>
                  </a:cubicBezTo>
                  <a:cubicBezTo>
                    <a:pt x="57" y="60"/>
                    <a:pt x="57" y="60"/>
                    <a:pt x="57" y="60"/>
                  </a:cubicBezTo>
                  <a:cubicBezTo>
                    <a:pt x="61" y="60"/>
                    <a:pt x="61" y="60"/>
                    <a:pt x="61" y="60"/>
                  </a:cubicBezTo>
                  <a:cubicBezTo>
                    <a:pt x="61" y="60"/>
                    <a:pt x="61" y="60"/>
                    <a:pt x="62" y="60"/>
                  </a:cubicBezTo>
                  <a:cubicBezTo>
                    <a:pt x="71" y="48"/>
                    <a:pt x="70" y="32"/>
                    <a:pt x="61" y="21"/>
                  </a:cubicBezTo>
                  <a:cubicBezTo>
                    <a:pt x="61" y="20"/>
                    <a:pt x="61" y="20"/>
                    <a:pt x="60" y="20"/>
                  </a:cubicBezTo>
                  <a:lnTo>
                    <a:pt x="57" y="20"/>
                  </a:lnTo>
                  <a:close/>
                  <a:moveTo>
                    <a:pt x="60" y="58"/>
                  </a:moveTo>
                  <a:cubicBezTo>
                    <a:pt x="56" y="58"/>
                    <a:pt x="56" y="58"/>
                    <a:pt x="56" y="58"/>
                  </a:cubicBezTo>
                  <a:cubicBezTo>
                    <a:pt x="55" y="58"/>
                    <a:pt x="55" y="59"/>
                    <a:pt x="55" y="59"/>
                  </a:cubicBezTo>
                  <a:cubicBezTo>
                    <a:pt x="55" y="64"/>
                    <a:pt x="55" y="64"/>
                    <a:pt x="55" y="64"/>
                  </a:cubicBezTo>
                  <a:cubicBezTo>
                    <a:pt x="50" y="68"/>
                    <a:pt x="43" y="70"/>
                    <a:pt x="37" y="70"/>
                  </a:cubicBezTo>
                  <a:cubicBezTo>
                    <a:pt x="30" y="70"/>
                    <a:pt x="24" y="68"/>
                    <a:pt x="19" y="64"/>
                  </a:cubicBezTo>
                  <a:cubicBezTo>
                    <a:pt x="19" y="59"/>
                    <a:pt x="19" y="59"/>
                    <a:pt x="19" y="59"/>
                  </a:cubicBezTo>
                  <a:cubicBezTo>
                    <a:pt x="19" y="59"/>
                    <a:pt x="18" y="58"/>
                    <a:pt x="18" y="58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5" y="48"/>
                    <a:pt x="5" y="33"/>
                    <a:pt x="13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18" y="22"/>
                    <a:pt x="19" y="22"/>
                    <a:pt x="19" y="21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24" y="13"/>
                    <a:pt x="30" y="11"/>
                    <a:pt x="37" y="11"/>
                  </a:cubicBezTo>
                  <a:cubicBezTo>
                    <a:pt x="43" y="11"/>
                    <a:pt x="50" y="13"/>
                    <a:pt x="55" y="17"/>
                  </a:cubicBezTo>
                  <a:cubicBezTo>
                    <a:pt x="55" y="21"/>
                    <a:pt x="55" y="21"/>
                    <a:pt x="55" y="21"/>
                  </a:cubicBezTo>
                  <a:cubicBezTo>
                    <a:pt x="55" y="22"/>
                    <a:pt x="55" y="22"/>
                    <a:pt x="56" y="22"/>
                  </a:cubicBezTo>
                  <a:cubicBezTo>
                    <a:pt x="60" y="22"/>
                    <a:pt x="60" y="22"/>
                    <a:pt x="60" y="22"/>
                  </a:cubicBezTo>
                  <a:cubicBezTo>
                    <a:pt x="68" y="33"/>
                    <a:pt x="68" y="48"/>
                    <a:pt x="60" y="58"/>
                  </a:cubicBezTo>
                  <a:close/>
                  <a:moveTo>
                    <a:pt x="76" y="10"/>
                  </a:moveTo>
                  <a:cubicBezTo>
                    <a:pt x="67" y="1"/>
                    <a:pt x="67" y="1"/>
                    <a:pt x="67" y="1"/>
                  </a:cubicBezTo>
                  <a:cubicBezTo>
                    <a:pt x="67" y="0"/>
                    <a:pt x="66" y="0"/>
                    <a:pt x="66" y="1"/>
                  </a:cubicBezTo>
                  <a:cubicBezTo>
                    <a:pt x="63" y="4"/>
                    <a:pt x="63" y="4"/>
                    <a:pt x="63" y="4"/>
                  </a:cubicBezTo>
                  <a:cubicBezTo>
                    <a:pt x="62" y="4"/>
                    <a:pt x="62" y="5"/>
                    <a:pt x="63" y="5"/>
                  </a:cubicBezTo>
                  <a:cubicBezTo>
                    <a:pt x="65" y="8"/>
                    <a:pt x="65" y="8"/>
                    <a:pt x="65" y="8"/>
                  </a:cubicBezTo>
                  <a:cubicBezTo>
                    <a:pt x="64" y="9"/>
                    <a:pt x="64" y="9"/>
                    <a:pt x="64" y="9"/>
                  </a:cubicBezTo>
                  <a:cubicBezTo>
                    <a:pt x="62" y="7"/>
                    <a:pt x="62" y="7"/>
                    <a:pt x="62" y="7"/>
                  </a:cubicBezTo>
                  <a:cubicBezTo>
                    <a:pt x="61" y="6"/>
                    <a:pt x="61" y="6"/>
                    <a:pt x="60" y="7"/>
                  </a:cubicBezTo>
                  <a:cubicBezTo>
                    <a:pt x="57" y="10"/>
                    <a:pt x="57" y="10"/>
                    <a:pt x="57" y="10"/>
                  </a:cubicBezTo>
                  <a:cubicBezTo>
                    <a:pt x="51" y="6"/>
                    <a:pt x="44" y="4"/>
                    <a:pt x="37" y="4"/>
                  </a:cubicBezTo>
                  <a:cubicBezTo>
                    <a:pt x="27" y="4"/>
                    <a:pt x="17" y="7"/>
                    <a:pt x="11" y="14"/>
                  </a:cubicBezTo>
                  <a:cubicBezTo>
                    <a:pt x="4" y="21"/>
                    <a:pt x="0" y="31"/>
                    <a:pt x="0" y="40"/>
                  </a:cubicBezTo>
                  <a:cubicBezTo>
                    <a:pt x="0" y="50"/>
                    <a:pt x="4" y="60"/>
                    <a:pt x="11" y="67"/>
                  </a:cubicBezTo>
                  <a:cubicBezTo>
                    <a:pt x="17" y="73"/>
                    <a:pt x="27" y="77"/>
                    <a:pt x="37" y="77"/>
                  </a:cubicBezTo>
                  <a:cubicBezTo>
                    <a:pt x="46" y="77"/>
                    <a:pt x="56" y="73"/>
                    <a:pt x="63" y="67"/>
                  </a:cubicBezTo>
                  <a:cubicBezTo>
                    <a:pt x="70" y="60"/>
                    <a:pt x="73" y="50"/>
                    <a:pt x="73" y="40"/>
                  </a:cubicBezTo>
                  <a:cubicBezTo>
                    <a:pt x="73" y="33"/>
                    <a:pt x="71" y="26"/>
                    <a:pt x="67" y="20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71" y="16"/>
                    <a:pt x="71" y="16"/>
                    <a:pt x="70" y="15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70" y="12"/>
                    <a:pt x="70" y="12"/>
                    <a:pt x="70" y="12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5"/>
                    <a:pt x="73" y="15"/>
                    <a:pt x="73" y="15"/>
                  </a:cubicBezTo>
                  <a:cubicBezTo>
                    <a:pt x="73" y="15"/>
                    <a:pt x="73" y="15"/>
                    <a:pt x="73" y="14"/>
                  </a:cubicBezTo>
                  <a:cubicBezTo>
                    <a:pt x="76" y="12"/>
                    <a:pt x="76" y="12"/>
                    <a:pt x="76" y="12"/>
                  </a:cubicBezTo>
                  <a:cubicBezTo>
                    <a:pt x="77" y="11"/>
                    <a:pt x="77" y="10"/>
                    <a:pt x="76" y="10"/>
                  </a:cubicBezTo>
                  <a:close/>
                  <a:moveTo>
                    <a:pt x="61" y="64"/>
                  </a:moveTo>
                  <a:cubicBezTo>
                    <a:pt x="54" y="71"/>
                    <a:pt x="46" y="74"/>
                    <a:pt x="37" y="74"/>
                  </a:cubicBezTo>
                  <a:cubicBezTo>
                    <a:pt x="28" y="74"/>
                    <a:pt x="19" y="71"/>
                    <a:pt x="13" y="64"/>
                  </a:cubicBezTo>
                  <a:cubicBezTo>
                    <a:pt x="6" y="58"/>
                    <a:pt x="3" y="49"/>
                    <a:pt x="3" y="40"/>
                  </a:cubicBezTo>
                  <a:cubicBezTo>
                    <a:pt x="3" y="31"/>
                    <a:pt x="6" y="23"/>
                    <a:pt x="13" y="16"/>
                  </a:cubicBezTo>
                  <a:cubicBezTo>
                    <a:pt x="19" y="10"/>
                    <a:pt x="28" y="7"/>
                    <a:pt x="37" y="7"/>
                  </a:cubicBezTo>
                  <a:cubicBezTo>
                    <a:pt x="46" y="7"/>
                    <a:pt x="54" y="10"/>
                    <a:pt x="61" y="16"/>
                  </a:cubicBezTo>
                  <a:cubicBezTo>
                    <a:pt x="67" y="23"/>
                    <a:pt x="70" y="31"/>
                    <a:pt x="70" y="40"/>
                  </a:cubicBezTo>
                  <a:cubicBezTo>
                    <a:pt x="70" y="49"/>
                    <a:pt x="67" y="58"/>
                    <a:pt x="61" y="64"/>
                  </a:cubicBezTo>
                  <a:close/>
                  <a:moveTo>
                    <a:pt x="66" y="18"/>
                  </a:moveTo>
                  <a:cubicBezTo>
                    <a:pt x="65" y="17"/>
                    <a:pt x="64" y="15"/>
                    <a:pt x="63" y="14"/>
                  </a:cubicBezTo>
                  <a:cubicBezTo>
                    <a:pt x="62" y="13"/>
                    <a:pt x="60" y="12"/>
                    <a:pt x="59" y="11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12"/>
                    <a:pt x="65" y="12"/>
                    <a:pt x="65" y="12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6" y="14"/>
                    <a:pt x="66" y="14"/>
                    <a:pt x="66" y="14"/>
                  </a:cubicBezTo>
                  <a:cubicBezTo>
                    <a:pt x="68" y="16"/>
                    <a:pt x="68" y="16"/>
                    <a:pt x="68" y="16"/>
                  </a:cubicBezTo>
                  <a:lnTo>
                    <a:pt x="66" y="18"/>
                  </a:lnTo>
                  <a:close/>
                  <a:moveTo>
                    <a:pt x="66" y="11"/>
                  </a:moveTo>
                  <a:cubicBezTo>
                    <a:pt x="65" y="10"/>
                    <a:pt x="65" y="10"/>
                    <a:pt x="65" y="10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68" y="10"/>
                    <a:pt x="68" y="10"/>
                    <a:pt x="68" y="10"/>
                  </a:cubicBezTo>
                  <a:cubicBezTo>
                    <a:pt x="67" y="12"/>
                    <a:pt x="67" y="12"/>
                    <a:pt x="67" y="12"/>
                  </a:cubicBezTo>
                  <a:lnTo>
                    <a:pt x="66" y="11"/>
                  </a:lnTo>
                  <a:close/>
                  <a:moveTo>
                    <a:pt x="73" y="12"/>
                  </a:moveTo>
                  <a:cubicBezTo>
                    <a:pt x="65" y="4"/>
                    <a:pt x="65" y="4"/>
                    <a:pt x="65" y="4"/>
                  </a:cubicBezTo>
                  <a:cubicBezTo>
                    <a:pt x="66" y="3"/>
                    <a:pt x="66" y="3"/>
                    <a:pt x="66" y="3"/>
                  </a:cubicBezTo>
                  <a:cubicBezTo>
                    <a:pt x="74" y="11"/>
                    <a:pt x="74" y="11"/>
                    <a:pt x="74" y="11"/>
                  </a:cubicBezTo>
                  <a:lnTo>
                    <a:pt x="73" y="12"/>
                  </a:lnTo>
                  <a:close/>
                </a:path>
              </a:pathLst>
            </a:custGeom>
            <a:solidFill>
              <a:srgbClr val="30B6AB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sz="1865">
                <a:solidFill>
                  <a:schemeClr val="tx2"/>
                </a:solidFill>
                <a:latin typeface="Calibri" panose="020F0502020204030204" pitchFamily="34" charset="0"/>
                <a:ea typeface="微软雅黑" panose="020B0503020204020204" pitchFamily="34" charset="-122"/>
                <a:sym typeface="Calibri" panose="020F0502020204030204" pitchFamily="34" charset="0"/>
              </a:endParaRPr>
            </a:p>
          </p:txBody>
        </p:sp>
      </p:grpSp>
      <p:sp>
        <p:nvSpPr>
          <p:cNvPr id="50" name="Freeform 5"/>
          <p:cNvSpPr>
            <a:spLocks noEditPoints="1"/>
          </p:cNvSpPr>
          <p:nvPr/>
        </p:nvSpPr>
        <p:spPr bwMode="auto">
          <a:xfrm>
            <a:off x="1497127" y="5498236"/>
            <a:ext cx="238044" cy="238044"/>
          </a:xfrm>
          <a:custGeom>
            <a:avLst/>
            <a:gdLst>
              <a:gd name="T0" fmla="*/ 163 w 327"/>
              <a:gd name="T1" fmla="*/ 0 h 327"/>
              <a:gd name="T2" fmla="*/ 0 w 327"/>
              <a:gd name="T3" fmla="*/ 164 h 327"/>
              <a:gd name="T4" fmla="*/ 163 w 327"/>
              <a:gd name="T5" fmla="*/ 327 h 327"/>
              <a:gd name="T6" fmla="*/ 327 w 327"/>
              <a:gd name="T7" fmla="*/ 164 h 327"/>
              <a:gd name="T8" fmla="*/ 163 w 327"/>
              <a:gd name="T9" fmla="*/ 0 h 327"/>
              <a:gd name="T10" fmla="*/ 149 w 327"/>
              <a:gd name="T11" fmla="*/ 214 h 327"/>
              <a:gd name="T12" fmla="*/ 102 w 327"/>
              <a:gd name="T13" fmla="*/ 167 h 327"/>
              <a:gd name="T14" fmla="*/ 119 w 327"/>
              <a:gd name="T15" fmla="*/ 150 h 327"/>
              <a:gd name="T16" fmla="*/ 147 w 327"/>
              <a:gd name="T17" fmla="*/ 176 h 327"/>
              <a:gd name="T18" fmla="*/ 205 w 327"/>
              <a:gd name="T19" fmla="*/ 113 h 327"/>
              <a:gd name="T20" fmla="*/ 225 w 327"/>
              <a:gd name="T21" fmla="*/ 130 h 327"/>
              <a:gd name="T22" fmla="*/ 149 w 327"/>
              <a:gd name="T23" fmla="*/ 214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7" h="327">
                <a:moveTo>
                  <a:pt x="163" y="0"/>
                </a:moveTo>
                <a:cubicBezTo>
                  <a:pt x="73" y="0"/>
                  <a:pt x="0" y="73"/>
                  <a:pt x="0" y="164"/>
                </a:cubicBezTo>
                <a:cubicBezTo>
                  <a:pt x="0" y="254"/>
                  <a:pt x="73" y="327"/>
                  <a:pt x="163" y="327"/>
                </a:cubicBezTo>
                <a:cubicBezTo>
                  <a:pt x="254" y="327"/>
                  <a:pt x="327" y="254"/>
                  <a:pt x="327" y="164"/>
                </a:cubicBezTo>
                <a:cubicBezTo>
                  <a:pt x="327" y="73"/>
                  <a:pt x="254" y="0"/>
                  <a:pt x="163" y="0"/>
                </a:cubicBezTo>
                <a:close/>
                <a:moveTo>
                  <a:pt x="149" y="214"/>
                </a:moveTo>
                <a:cubicBezTo>
                  <a:pt x="102" y="167"/>
                  <a:pt x="102" y="167"/>
                  <a:pt x="102" y="167"/>
                </a:cubicBezTo>
                <a:cubicBezTo>
                  <a:pt x="119" y="150"/>
                  <a:pt x="119" y="150"/>
                  <a:pt x="119" y="150"/>
                </a:cubicBezTo>
                <a:cubicBezTo>
                  <a:pt x="147" y="176"/>
                  <a:pt x="147" y="176"/>
                  <a:pt x="147" y="176"/>
                </a:cubicBezTo>
                <a:cubicBezTo>
                  <a:pt x="205" y="113"/>
                  <a:pt x="205" y="113"/>
                  <a:pt x="205" y="113"/>
                </a:cubicBezTo>
                <a:cubicBezTo>
                  <a:pt x="225" y="130"/>
                  <a:pt x="225" y="130"/>
                  <a:pt x="225" y="130"/>
                </a:cubicBezTo>
                <a:lnTo>
                  <a:pt x="149" y="214"/>
                </a:lnTo>
                <a:close/>
              </a:path>
            </a:pathLst>
          </a:custGeom>
          <a:solidFill>
            <a:srgbClr val="F5AEFB"/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ID" sz="24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1" name="Freeform 5"/>
          <p:cNvSpPr>
            <a:spLocks noEditPoints="1"/>
          </p:cNvSpPr>
          <p:nvPr/>
        </p:nvSpPr>
        <p:spPr bwMode="auto">
          <a:xfrm>
            <a:off x="2764928" y="5498236"/>
            <a:ext cx="238044" cy="238044"/>
          </a:xfrm>
          <a:custGeom>
            <a:avLst/>
            <a:gdLst>
              <a:gd name="T0" fmla="*/ 163 w 327"/>
              <a:gd name="T1" fmla="*/ 0 h 327"/>
              <a:gd name="T2" fmla="*/ 0 w 327"/>
              <a:gd name="T3" fmla="*/ 164 h 327"/>
              <a:gd name="T4" fmla="*/ 163 w 327"/>
              <a:gd name="T5" fmla="*/ 327 h 327"/>
              <a:gd name="T6" fmla="*/ 327 w 327"/>
              <a:gd name="T7" fmla="*/ 164 h 327"/>
              <a:gd name="T8" fmla="*/ 163 w 327"/>
              <a:gd name="T9" fmla="*/ 0 h 327"/>
              <a:gd name="T10" fmla="*/ 149 w 327"/>
              <a:gd name="T11" fmla="*/ 214 h 327"/>
              <a:gd name="T12" fmla="*/ 102 w 327"/>
              <a:gd name="T13" fmla="*/ 167 h 327"/>
              <a:gd name="T14" fmla="*/ 119 w 327"/>
              <a:gd name="T15" fmla="*/ 150 h 327"/>
              <a:gd name="T16" fmla="*/ 147 w 327"/>
              <a:gd name="T17" fmla="*/ 176 h 327"/>
              <a:gd name="T18" fmla="*/ 205 w 327"/>
              <a:gd name="T19" fmla="*/ 113 h 327"/>
              <a:gd name="T20" fmla="*/ 225 w 327"/>
              <a:gd name="T21" fmla="*/ 130 h 327"/>
              <a:gd name="T22" fmla="*/ 149 w 327"/>
              <a:gd name="T23" fmla="*/ 214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7" h="327">
                <a:moveTo>
                  <a:pt x="163" y="0"/>
                </a:moveTo>
                <a:cubicBezTo>
                  <a:pt x="73" y="0"/>
                  <a:pt x="0" y="73"/>
                  <a:pt x="0" y="164"/>
                </a:cubicBezTo>
                <a:cubicBezTo>
                  <a:pt x="0" y="254"/>
                  <a:pt x="73" y="327"/>
                  <a:pt x="163" y="327"/>
                </a:cubicBezTo>
                <a:cubicBezTo>
                  <a:pt x="254" y="327"/>
                  <a:pt x="327" y="254"/>
                  <a:pt x="327" y="164"/>
                </a:cubicBezTo>
                <a:cubicBezTo>
                  <a:pt x="327" y="73"/>
                  <a:pt x="254" y="0"/>
                  <a:pt x="163" y="0"/>
                </a:cubicBezTo>
                <a:close/>
                <a:moveTo>
                  <a:pt x="149" y="214"/>
                </a:moveTo>
                <a:cubicBezTo>
                  <a:pt x="102" y="167"/>
                  <a:pt x="102" y="167"/>
                  <a:pt x="102" y="167"/>
                </a:cubicBezTo>
                <a:cubicBezTo>
                  <a:pt x="119" y="150"/>
                  <a:pt x="119" y="150"/>
                  <a:pt x="119" y="150"/>
                </a:cubicBezTo>
                <a:cubicBezTo>
                  <a:pt x="147" y="176"/>
                  <a:pt x="147" y="176"/>
                  <a:pt x="147" y="176"/>
                </a:cubicBezTo>
                <a:cubicBezTo>
                  <a:pt x="205" y="113"/>
                  <a:pt x="205" y="113"/>
                  <a:pt x="205" y="113"/>
                </a:cubicBezTo>
                <a:cubicBezTo>
                  <a:pt x="225" y="130"/>
                  <a:pt x="225" y="130"/>
                  <a:pt x="225" y="130"/>
                </a:cubicBezTo>
                <a:lnTo>
                  <a:pt x="149" y="214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ID" sz="24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2" name="Freeform 5"/>
          <p:cNvSpPr>
            <a:spLocks noEditPoints="1"/>
          </p:cNvSpPr>
          <p:nvPr/>
        </p:nvSpPr>
        <p:spPr bwMode="auto">
          <a:xfrm>
            <a:off x="3947592" y="5507404"/>
            <a:ext cx="238044" cy="238044"/>
          </a:xfrm>
          <a:custGeom>
            <a:avLst/>
            <a:gdLst>
              <a:gd name="T0" fmla="*/ 163 w 327"/>
              <a:gd name="T1" fmla="*/ 0 h 327"/>
              <a:gd name="T2" fmla="*/ 0 w 327"/>
              <a:gd name="T3" fmla="*/ 164 h 327"/>
              <a:gd name="T4" fmla="*/ 163 w 327"/>
              <a:gd name="T5" fmla="*/ 327 h 327"/>
              <a:gd name="T6" fmla="*/ 327 w 327"/>
              <a:gd name="T7" fmla="*/ 164 h 327"/>
              <a:gd name="T8" fmla="*/ 163 w 327"/>
              <a:gd name="T9" fmla="*/ 0 h 327"/>
              <a:gd name="T10" fmla="*/ 149 w 327"/>
              <a:gd name="T11" fmla="*/ 214 h 327"/>
              <a:gd name="T12" fmla="*/ 102 w 327"/>
              <a:gd name="T13" fmla="*/ 167 h 327"/>
              <a:gd name="T14" fmla="*/ 119 w 327"/>
              <a:gd name="T15" fmla="*/ 150 h 327"/>
              <a:gd name="T16" fmla="*/ 147 w 327"/>
              <a:gd name="T17" fmla="*/ 176 h 327"/>
              <a:gd name="T18" fmla="*/ 205 w 327"/>
              <a:gd name="T19" fmla="*/ 113 h 327"/>
              <a:gd name="T20" fmla="*/ 225 w 327"/>
              <a:gd name="T21" fmla="*/ 130 h 327"/>
              <a:gd name="T22" fmla="*/ 149 w 327"/>
              <a:gd name="T23" fmla="*/ 214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7" h="327">
                <a:moveTo>
                  <a:pt x="163" y="0"/>
                </a:moveTo>
                <a:cubicBezTo>
                  <a:pt x="73" y="0"/>
                  <a:pt x="0" y="73"/>
                  <a:pt x="0" y="164"/>
                </a:cubicBezTo>
                <a:cubicBezTo>
                  <a:pt x="0" y="254"/>
                  <a:pt x="73" y="327"/>
                  <a:pt x="163" y="327"/>
                </a:cubicBezTo>
                <a:cubicBezTo>
                  <a:pt x="254" y="327"/>
                  <a:pt x="327" y="254"/>
                  <a:pt x="327" y="164"/>
                </a:cubicBezTo>
                <a:cubicBezTo>
                  <a:pt x="327" y="73"/>
                  <a:pt x="254" y="0"/>
                  <a:pt x="163" y="0"/>
                </a:cubicBezTo>
                <a:close/>
                <a:moveTo>
                  <a:pt x="149" y="214"/>
                </a:moveTo>
                <a:cubicBezTo>
                  <a:pt x="102" y="167"/>
                  <a:pt x="102" y="167"/>
                  <a:pt x="102" y="167"/>
                </a:cubicBezTo>
                <a:cubicBezTo>
                  <a:pt x="119" y="150"/>
                  <a:pt x="119" y="150"/>
                  <a:pt x="119" y="150"/>
                </a:cubicBezTo>
                <a:cubicBezTo>
                  <a:pt x="147" y="176"/>
                  <a:pt x="147" y="176"/>
                  <a:pt x="147" y="176"/>
                </a:cubicBezTo>
                <a:cubicBezTo>
                  <a:pt x="205" y="113"/>
                  <a:pt x="205" y="113"/>
                  <a:pt x="205" y="113"/>
                </a:cubicBezTo>
                <a:cubicBezTo>
                  <a:pt x="225" y="130"/>
                  <a:pt x="225" y="130"/>
                  <a:pt x="225" y="130"/>
                </a:cubicBezTo>
                <a:lnTo>
                  <a:pt x="149" y="214"/>
                </a:lnTo>
                <a:close/>
              </a:path>
            </a:pathLst>
          </a:custGeom>
          <a:gradFill>
            <a:gsLst>
              <a:gs pos="0">
                <a:srgbClr val="FBFB11"/>
              </a:gs>
              <a:gs pos="100000">
                <a:srgbClr val="838309"/>
              </a:gs>
            </a:gsLst>
            <a:lin ang="5400000" scaled="0"/>
          </a:gra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ID" sz="24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3" name="Freeform 5"/>
          <p:cNvSpPr>
            <a:spLocks noEditPoints="1"/>
          </p:cNvSpPr>
          <p:nvPr/>
        </p:nvSpPr>
        <p:spPr bwMode="auto">
          <a:xfrm>
            <a:off x="5198883" y="5492799"/>
            <a:ext cx="238044" cy="238044"/>
          </a:xfrm>
          <a:custGeom>
            <a:avLst/>
            <a:gdLst>
              <a:gd name="T0" fmla="*/ 163 w 327"/>
              <a:gd name="T1" fmla="*/ 0 h 327"/>
              <a:gd name="T2" fmla="*/ 0 w 327"/>
              <a:gd name="T3" fmla="*/ 164 h 327"/>
              <a:gd name="T4" fmla="*/ 163 w 327"/>
              <a:gd name="T5" fmla="*/ 327 h 327"/>
              <a:gd name="T6" fmla="*/ 327 w 327"/>
              <a:gd name="T7" fmla="*/ 164 h 327"/>
              <a:gd name="T8" fmla="*/ 163 w 327"/>
              <a:gd name="T9" fmla="*/ 0 h 327"/>
              <a:gd name="T10" fmla="*/ 149 w 327"/>
              <a:gd name="T11" fmla="*/ 214 h 327"/>
              <a:gd name="T12" fmla="*/ 102 w 327"/>
              <a:gd name="T13" fmla="*/ 167 h 327"/>
              <a:gd name="T14" fmla="*/ 119 w 327"/>
              <a:gd name="T15" fmla="*/ 150 h 327"/>
              <a:gd name="T16" fmla="*/ 147 w 327"/>
              <a:gd name="T17" fmla="*/ 176 h 327"/>
              <a:gd name="T18" fmla="*/ 205 w 327"/>
              <a:gd name="T19" fmla="*/ 113 h 327"/>
              <a:gd name="T20" fmla="*/ 225 w 327"/>
              <a:gd name="T21" fmla="*/ 130 h 327"/>
              <a:gd name="T22" fmla="*/ 149 w 327"/>
              <a:gd name="T23" fmla="*/ 214 h 3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327" h="327">
                <a:moveTo>
                  <a:pt x="163" y="0"/>
                </a:moveTo>
                <a:cubicBezTo>
                  <a:pt x="73" y="0"/>
                  <a:pt x="0" y="73"/>
                  <a:pt x="0" y="164"/>
                </a:cubicBezTo>
                <a:cubicBezTo>
                  <a:pt x="0" y="254"/>
                  <a:pt x="73" y="327"/>
                  <a:pt x="163" y="327"/>
                </a:cubicBezTo>
                <a:cubicBezTo>
                  <a:pt x="254" y="327"/>
                  <a:pt x="327" y="254"/>
                  <a:pt x="327" y="164"/>
                </a:cubicBezTo>
                <a:cubicBezTo>
                  <a:pt x="327" y="73"/>
                  <a:pt x="254" y="0"/>
                  <a:pt x="163" y="0"/>
                </a:cubicBezTo>
                <a:close/>
                <a:moveTo>
                  <a:pt x="149" y="214"/>
                </a:moveTo>
                <a:cubicBezTo>
                  <a:pt x="102" y="167"/>
                  <a:pt x="102" y="167"/>
                  <a:pt x="102" y="167"/>
                </a:cubicBezTo>
                <a:cubicBezTo>
                  <a:pt x="119" y="150"/>
                  <a:pt x="119" y="150"/>
                  <a:pt x="119" y="150"/>
                </a:cubicBezTo>
                <a:cubicBezTo>
                  <a:pt x="147" y="176"/>
                  <a:pt x="147" y="176"/>
                  <a:pt x="147" y="176"/>
                </a:cubicBezTo>
                <a:cubicBezTo>
                  <a:pt x="205" y="113"/>
                  <a:pt x="205" y="113"/>
                  <a:pt x="205" y="113"/>
                </a:cubicBezTo>
                <a:cubicBezTo>
                  <a:pt x="225" y="130"/>
                  <a:pt x="225" y="130"/>
                  <a:pt x="225" y="130"/>
                </a:cubicBezTo>
                <a:lnTo>
                  <a:pt x="149" y="214"/>
                </a:lnTo>
                <a:close/>
              </a:path>
            </a:pathLst>
          </a:cu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ang="5400000" scaled="0"/>
          </a:gradFill>
          <a:ln>
            <a:noFill/>
          </a:ln>
        </p:spPr>
        <p:txBody>
          <a:bodyPr vert="horz" wrap="square" lIns="121920" tIns="60960" rIns="121920" bIns="60960" numCol="1" anchor="t" anchorCtr="0" compatLnSpc="1"/>
          <a:lstStyle/>
          <a:p>
            <a:endParaRPr lang="en-ID" sz="2400" dirty="0">
              <a:latin typeface="Calibri" panose="020F0502020204030204" pitchFamily="34" charset="0"/>
              <a:ea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296035" y="5922645"/>
            <a:ext cx="640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雌性</a:t>
            </a:r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6493510" y="926465"/>
            <a:ext cx="4941570" cy="48926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    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当我们在网站上刷到关于猫的视频时，总能看到类似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  <a:sym typeface="+mn-ea"/>
              </a:rPr>
              <a:t>“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这只三花一定是女孩子！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”“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哇！是玳瑁色的小母猫！好可爱！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”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这样的评论，为什么大家会根据毛色如此笃定猫咪的性别呢？</a:t>
            </a:r>
            <a:endParaRPr lang="zh-CN" altLang="en-US" sz="2400">
              <a:solidFill>
                <a:schemeClr val="bg2">
                  <a:lumMod val="25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endParaRPr lang="zh-CN" altLang="en-US" sz="2400">
              <a:solidFill>
                <a:schemeClr val="bg2">
                  <a:lumMod val="25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    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调查显示，现有的三花或玳瑁猫中，雌性的比例高达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99.8%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，难道猫界也存在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“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性别歧视</a:t>
            </a:r>
            <a:r>
              <a:rPr lang="en-US" altLang="zh-CN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”</a:t>
            </a:r>
            <a:r>
              <a:rPr lang="zh-CN" altLang="en-US" sz="24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？为什么三花或玳瑁猫中雄性极少见呢？这一有趣的生命现象引起了我的思考。</a:t>
            </a:r>
            <a:endParaRPr lang="zh-CN" altLang="en-US" sz="2400">
              <a:solidFill>
                <a:schemeClr val="bg2">
                  <a:lumMod val="25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 p14:presetBounceEnd="53000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7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8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 p14:presetBounceEnd="53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1" dur="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12" dur="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nodeType="withEffect" p14:presetBounceEnd="53000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5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16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 p14:presetBounceEnd="53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19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0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nodeType="withEffect" p14:presetBounceEnd="53000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3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4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 p14:presetBounceEnd="53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27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28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2" fill="hold" nodeType="withEffect" p14:presetBounceEnd="53000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31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32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nodeType="withEffect" p14:presetBounceEnd="53000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3000">
                                          <p:cBhvr additive="base">
                                            <p:cTn id="35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3000">
                                          <p:cBhvr additive="base">
                                            <p:cTn id="36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9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1" dur="5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4" dur="500"/>
                                            <p:tgtEl>
                                              <p:spTgt spid="5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12" fill="hold" nodeType="withEffect">
                                      <p:stCondLst>
                                        <p:cond delay="25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75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1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75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12" fill="hold" nodeType="withEffect">
                                      <p:stCondLst>
                                        <p:cond delay="75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75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" fill="hold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75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12" fill="hold" nodeType="withEffect">
                                      <p:stCondLst>
                                        <p:cond delay="125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75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5" presetID="2" presetClass="entr" presetSubtype="1" fill="hold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7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8" dur="75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12" fill="hold" nodeType="withEffect">
                                      <p:stCondLst>
                                        <p:cond delay="175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75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1" fill="hold" nodeType="withEffect">
                                      <p:stCondLst>
                                        <p:cond delay="20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75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37" fill="hold">
                          <p:stCondLst>
                            <p:cond delay="indefinite"/>
                          </p:stCondLst>
                          <p:childTnLst>
                            <p:par>
                              <p:cTn id="38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39" presetID="9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1" dur="5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2" presetID="9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dissolve">
                                          <p:cBhvr>
                                            <p:cTn id="44" dur="500"/>
                                            <p:tgtEl>
                                              <p:spTgt spid="55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452689" y="2545715"/>
            <a:ext cx="8939191" cy="1676400"/>
            <a:chOff x="-566736" y="2293647"/>
            <a:chExt cx="8939191" cy="1676400"/>
          </a:xfrm>
        </p:grpSpPr>
        <p:grpSp>
          <p:nvGrpSpPr>
            <p:cNvPr id="5" name="组合 308"/>
            <p:cNvGrpSpPr/>
            <p:nvPr/>
          </p:nvGrpSpPr>
          <p:grpSpPr>
            <a:xfrm>
              <a:off x="760710" y="2490486"/>
              <a:ext cx="7611745" cy="1479550"/>
              <a:chOff x="4664670" y="4961921"/>
              <a:chExt cx="15223489" cy="2959099"/>
            </a:xfrm>
          </p:grpSpPr>
          <p:sp>
            <p:nvSpPr>
              <p:cNvPr id="7" name="Object 309"/>
              <p:cNvSpPr txBox="1"/>
              <p:nvPr/>
            </p:nvSpPr>
            <p:spPr>
              <a:xfrm>
                <a:off x="4664670" y="4961921"/>
                <a:ext cx="15223489" cy="1720849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猫毛色与性别关系的生物学解释</a:t>
                </a:r>
                <a:endParaRPr lang="zh-CN" altLang="en-US" sz="40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Object 3010"/>
              <p:cNvSpPr txBox="1"/>
              <p:nvPr/>
            </p:nvSpPr>
            <p:spPr>
              <a:xfrm>
                <a:off x="4827230" y="6873270"/>
                <a:ext cx="10280649" cy="104775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>
                <a:lvl1pPr>
                  <a:lnSpc>
                    <a:spcPct val="111000"/>
                  </a:lnSpc>
                  <a:defRPr sz="3000" b="0" i="0">
                    <a:solidFill>
                      <a:schemeClr val="bg1">
                        <a:lumMod val="75000"/>
                      </a:schemeClr>
                    </a:solidFill>
                    <a:cs typeface="+mn-ea"/>
                  </a:defRPr>
                </a:lvl1pPr>
              </a:lstStyle>
              <a:p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这一有趣的现象背后，有着严谨科学的生物学理论作解释。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9" name="Object 3011"/>
              <p:cNvSpPr txBox="1"/>
              <p:nvPr/>
            </p:nvSpPr>
            <p:spPr>
              <a:xfrm>
                <a:off x="4827230" y="6238271"/>
                <a:ext cx="12051029" cy="63627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1600" dirty="0">
                    <a:solidFill>
                      <a:srgbClr val="30B6AB"/>
                    </a:solidFill>
                    <a:cs typeface="+mn-ea"/>
                    <a:sym typeface="+mn-lt"/>
                  </a:rPr>
                  <a:t>Biological explanation of relationship between color and sex</a:t>
                </a:r>
                <a:endParaRPr lang="zh-CN" altLang="en-US" sz="16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" name="Object 307"/>
            <p:cNvSpPr txBox="1"/>
            <p:nvPr/>
          </p:nvSpPr>
          <p:spPr>
            <a:xfrm>
              <a:off x="-566736" y="2293647"/>
              <a:ext cx="1629256" cy="1676400"/>
            </a:xfrm>
            <a:prstGeom prst="rect">
              <a:avLst/>
            </a:prstGeom>
          </p:spPr>
          <p:txBody>
            <a:bodyPr vert="horz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0000" dirty="0">
                  <a:solidFill>
                    <a:srgbClr val="30B6AB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03</a:t>
              </a:r>
              <a:endParaRPr lang="zh-CN" altLang="en-US" sz="10000" dirty="0">
                <a:solidFill>
                  <a:srgbClr val="30B6AB"/>
                </a:solidFill>
                <a:latin typeface="Agency FB" panose="020B0503020202020204" pitchFamily="34" charset="0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74700" y="826770"/>
            <a:ext cx="4749165" cy="5412740"/>
            <a:chOff x="1220" y="1302"/>
            <a:chExt cx="7479" cy="8524"/>
          </a:xfrm>
        </p:grpSpPr>
        <p:sp>
          <p:nvSpPr>
            <p:cNvPr id="15" name="矩形 14"/>
            <p:cNvSpPr/>
            <p:nvPr/>
          </p:nvSpPr>
          <p:spPr>
            <a:xfrm>
              <a:off x="1739" y="1514"/>
              <a:ext cx="6961" cy="8068"/>
            </a:xfrm>
            <a:prstGeom prst="rect">
              <a:avLst/>
            </a:prstGeom>
            <a:solidFill>
              <a:schemeClr val="bg1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38100" algn="l" rotWithShape="0">
                <a:schemeClr val="bg1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739" y="9538"/>
              <a:ext cx="6961" cy="288"/>
            </a:xfrm>
            <a:prstGeom prst="rect">
              <a:avLst/>
            </a:prstGeom>
            <a:solidFill>
              <a:srgbClr val="30B6A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152400" dist="38100" algn="l" rotWithShape="0">
                <a:schemeClr val="bg1">
                  <a:lumMod val="50000"/>
                  <a:alpha val="18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Autofit/>
            </a:bodyPr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矩形: 对角圆角 17"/>
            <p:cNvSpPr/>
            <p:nvPr/>
          </p:nvSpPr>
          <p:spPr>
            <a:xfrm>
              <a:off x="1220" y="1302"/>
              <a:ext cx="4320" cy="78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rgbClr val="30B6AB"/>
            </a:solidFill>
            <a:ln w="12700" cap="flat" cmpd="sng" algn="ctr">
              <a:noFill/>
              <a:prstDash val="solid"/>
              <a:miter lim="800000"/>
            </a:ln>
            <a:effectLst>
              <a:outerShdw blurRad="63500" dist="38100" dir="2700000" algn="tl" rotWithShape="0">
                <a:schemeClr val="accent1">
                  <a:lumMod val="75000"/>
                  <a:alpha val="26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zh-CN" altLang="en-US" b="1" dirty="0">
                <a:cs typeface="+mn-ea"/>
                <a:sym typeface="+mn-lt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1716" y="1442"/>
              <a:ext cx="3280" cy="48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三花与玳瑁</a:t>
              </a:r>
              <a:r>
                <a:rPr lang="zh-CN" altLang="en-US" sz="2000" b="1" dirty="0">
                  <a:solidFill>
                    <a:schemeClr val="bg1"/>
                  </a:solidFill>
                  <a:cs typeface="+mn-ea"/>
                  <a:sym typeface="+mn-lt"/>
                </a:rPr>
                <a:t>的成因</a:t>
              </a:r>
              <a:endParaRPr lang="zh-CN" altLang="en-US" sz="20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20" name="矩形 19"/>
          <p:cNvSpPr/>
          <p:nvPr/>
        </p:nvSpPr>
        <p:spPr>
          <a:xfrm>
            <a:off x="6039485" y="476885"/>
            <a:ext cx="5485765" cy="5904230"/>
          </a:xfrm>
          <a:prstGeom prst="rect">
            <a:avLst/>
          </a:prstGeom>
          <a:blipFill rotWithShape="1">
            <a:blip r:embed="rId1"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>
            <a:outerShdw blurRad="152400" dist="38100" algn="l" rotWithShape="0">
              <a:schemeClr val="bg1">
                <a:lumMod val="5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039485" y="6380480"/>
            <a:ext cx="5485765" cy="170180"/>
          </a:xfrm>
          <a:prstGeom prst="rect">
            <a:avLst/>
          </a:prstGeom>
          <a:solidFill>
            <a:srgbClr val="90E7E0"/>
          </a:solidFill>
          <a:ln w="12700" cap="flat" cmpd="sng" algn="ctr">
            <a:noFill/>
            <a:prstDash val="solid"/>
            <a:miter lim="800000"/>
          </a:ln>
          <a:effectLst>
            <a:outerShdw blurRad="152400" dist="38100" algn="l" rotWithShape="0">
              <a:schemeClr val="bg1">
                <a:lumMod val="50000"/>
                <a:alpha val="1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矩形 13"/>
          <p:cNvSpPr>
            <a:spLocks noChangeArrowheads="1"/>
          </p:cNvSpPr>
          <p:nvPr/>
        </p:nvSpPr>
        <p:spPr bwMode="auto">
          <a:xfrm>
            <a:off x="234361" y="160338"/>
            <a:ext cx="16052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</a:rPr>
              <a:t>生物科学</a:t>
            </a:r>
            <a:endParaRPr lang="zh-CN" altLang="en-US" sz="2800" dirty="0">
              <a:solidFill>
                <a:srgbClr val="30B6AB"/>
              </a:solidFill>
              <a:effectLst>
                <a:outerShdw blurRad="60007" dist="200025" dir="15000000" sy="30000" kx="-1800000" algn="bl" rotWithShape="0">
                  <a:prstClr val="black">
                    <a:alpha val="32000"/>
                  </a:prstClr>
                </a:outerShdw>
              </a:effectLst>
              <a:latin typeface="方正宋刻本秀楷简体" panose="02000000000000000000" charset="-122"/>
              <a:ea typeface="方正宋刻本秀楷简体" panose="020000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852545" y="711200"/>
            <a:ext cx="387985" cy="4305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0">
                      <a:srgbClr val="30B6AB"/>
                    </a:gs>
                    <a:gs pos="76000">
                      <a:srgbClr val="30B6AB">
                        <a:alpha val="0"/>
                      </a:srgbClr>
                    </a:gs>
                  </a:gsLst>
                  <a:lin ang="5400000" scaled="1"/>
                  <a:tileRect/>
                </a:gradFill>
                <a:effectLst/>
                <a:uLnTx/>
                <a:uFillTx/>
                <a:cs typeface="+mn-ea"/>
                <a:sym typeface="+mn-lt"/>
              </a:rPr>
              <a:t>01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0">
                    <a:srgbClr val="30B6AB"/>
                  </a:gs>
                  <a:gs pos="76000">
                    <a:srgbClr val="30B6AB">
                      <a:alpha val="0"/>
                    </a:srgbClr>
                  </a:gs>
                </a:gsLst>
                <a:lin ang="5400000" scaled="1"/>
                <a:tileRect/>
              </a:gra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0475" y="1456055"/>
            <a:ext cx="3960495" cy="4799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  <a:sym typeface="+mn-ea"/>
              </a:rPr>
              <a:t>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  <a:sym typeface="+mn-ea"/>
              </a:rPr>
              <a:t>玳瑁猫身上的斑块产生在发育的早期阶段被称为“X染色体失活”的复杂过程中，当黑色的基因和黄色的基因随机分布在受精卵中时，就会发生这种情况。当带有黄色基因的染色体失活时，就会产生黑色的毛发。相反，当携带黑色基因的染色体失活时，就会形成黄色的毛发。由于这种不寻常的遗传成分，所以没有两只玳瑁猫的花纹是一样的，即使是同卵双胞胎，花纹标记也不会完全相同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方正硬笔楷书简体" panose="03000509000000000000" charset="-122"/>
              <a:ea typeface="方正硬笔楷书简体" panose="03000509000000000000" charset="-122"/>
              <a:cs typeface="方正硬笔楷书简体" panose="03000509000000000000" charset="-122"/>
              <a:sym typeface="+mn-ea"/>
            </a:endParaRPr>
          </a:p>
          <a:p>
            <a:pPr algn="l" eaLnBrk="1" hangingPunct="1">
              <a:spcBef>
                <a:spcPct val="0"/>
              </a:spcBef>
              <a:buFontTx/>
              <a:buNone/>
            </a:pP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  <a:sym typeface="+mn-ea"/>
              </a:rPr>
              <a:t>   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  <a:sym typeface="+mn-ea"/>
              </a:rPr>
              <a:t>玳瑁猫红色和黑色的分布原本是完全随机的，当玳瑁猫加白以后，黑色和红色毛发会受白斑基因的影响发生聚拢。（这种情况下就是俗称的三花猫）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方正硬笔楷书简体" panose="03000509000000000000" charset="-122"/>
              <a:ea typeface="方正硬笔楷书简体" panose="03000509000000000000" charset="-122"/>
              <a:cs typeface="方正硬笔楷书简体" panose="03000509000000000000" charset="-122"/>
              <a:sym typeface="+mn-ea"/>
            </a:endParaRPr>
          </a:p>
          <a:p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方正硬笔楷书简体" panose="03000509000000000000" charset="-122"/>
              <a:ea typeface="方正硬笔楷书简体" panose="03000509000000000000" charset="-122"/>
              <a:cs typeface="方正硬笔楷书简体" panose="03000509000000000000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0" grpId="1" animBg="1"/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01445" y="596900"/>
            <a:ext cx="9144000" cy="5781675"/>
          </a:xfrm>
        </p:spPr>
        <p:txBody>
          <a:bodyPr>
            <a:normAutofit fontScale="90000"/>
          </a:bodyPr>
          <a:p>
            <a:pPr algn="l"/>
            <a:br>
              <a:rPr lang="zh-CN" altLang="en-US" sz="2665">
                <a:latin typeface="方正粗金陵简体" panose="02000000000000000000" charset="-122"/>
                <a:ea typeface="方正粗金陵简体" panose="02000000000000000000" charset="-122"/>
              </a:rPr>
            </a:br>
            <a:r>
              <a:rPr lang="zh-CN" altLang="en-US" sz="3555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  <a:sym typeface="+mn-ea"/>
              </a:rPr>
              <a:t>为什么母猫才会同时拥有红黑两色？</a:t>
            </a:r>
            <a:br>
              <a:rPr lang="zh-CN" altLang="en-US" sz="266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  <a:sym typeface="+mn-ea"/>
              </a:rPr>
            </a:br>
            <a:br>
              <a:rPr lang="zh-CN" altLang="en-US" sz="266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  <a:sym typeface="+mn-ea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在猫的细胞中，表现为黑色系颜色的【真黑素】由B/b/b'三个等位基因控制，位于常染色体上。</a:t>
            </a:r>
            <a:b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表达顺序为：B&gt;b&gt;b'</a:t>
            </a:r>
            <a:b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BB、Bb、Bb' 表现为黑色；</a:t>
            </a:r>
            <a:b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bb、bb' 表现为巧克力色；</a:t>
            </a:r>
            <a:b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b'b' 表现为肉桂色；</a:t>
            </a:r>
            <a:b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但当红色基因R存在时，【真黑素】的合成受抑制，转而合成【褐黑色】表现为红色。</a:t>
            </a:r>
            <a:r>
              <a:rPr lang="zh-CN" altLang="en-US" sz="2665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红色控制基因R</a:t>
            </a:r>
            <a:r>
              <a:rPr lang="en-US" altLang="zh-CN" sz="2665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/r</a:t>
            </a:r>
            <a:r>
              <a:rPr lang="zh-CN" altLang="en-US" sz="2665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位于X染色体，和性别发生关联。</a:t>
            </a:r>
            <a:br>
              <a:rPr lang="zh-CN" altLang="en-US" sz="2665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</a:br>
            <a:r>
              <a:rPr lang="zh-CN" altLang="en-US" sz="2665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猫和众多哺乳动物一样，公母猫的性染色体是不同的，公猫为XY，母猫为XX。红色基因位于X染色体上非同源区段，在Y染色体上没有等位基因。这样公猫只能有一个红色基因，母猫会有两个。母猫的基因型若为Rr，那么就会同时表达出真黑素和褐黑素，外观上来看就同时拥有了黑色和红色。</a:t>
            </a:r>
            <a:endParaRPr lang="zh-CN" altLang="en-US" sz="2665">
              <a:solidFill>
                <a:schemeClr val="bg2">
                  <a:lumMod val="50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8125" y="14986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  <a:sym typeface="+mn-ea"/>
              </a:rPr>
              <a:t>生物科学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9630" y="917575"/>
            <a:ext cx="10236835" cy="38150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200">
                <a:solidFill>
                  <a:schemeClr val="bg2">
                    <a:lumMod val="25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</a:rPr>
              <a:t>为什么会出现部分雄性三花或玳瑁猫？</a:t>
            </a:r>
            <a:endParaRPr lang="zh-CN" altLang="en-US" sz="3200">
              <a:solidFill>
                <a:schemeClr val="bg2">
                  <a:lumMod val="25000"/>
                </a:schemeClr>
              </a:solidFill>
              <a:latin typeface="方正颜宋简体" panose="02000000000000000000" charset="-122"/>
              <a:ea typeface="方正颜宋简体" panose="02000000000000000000" charset="-122"/>
            </a:endParaRPr>
          </a:p>
          <a:p>
            <a:pPr algn="l"/>
            <a:endParaRPr lang="zh-CN" altLang="en-US"/>
          </a:p>
          <a:p>
            <a:pPr algn="l"/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受精后，母方卵细胞进行减数分裂（减数第二次分裂后期）非同源染色体自由组合出现异常（出现XX异常配子）也有可能父方减数分裂时染色体分裂异常导致xy与母方的x结合。导致雄性猫细胞中同时具有XXY，通常表现为XY雄性的生理特征，但雄激素缺乏的个体可能出现不同程度的雌性化第二性征。</a:t>
            </a:r>
            <a:endParaRPr lang="zh-CN" altLang="en-US" sz="2400">
              <a:solidFill>
                <a:schemeClr val="bg2">
                  <a:lumMod val="50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pPr algn="l"/>
            <a:endParaRPr lang="zh-CN" altLang="en-US" sz="2400">
              <a:solidFill>
                <a:schemeClr val="bg2">
                  <a:lumMod val="50000"/>
                </a:schemeClr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  <a:p>
            <a:pPr algn="l"/>
            <a:r>
              <a:rPr lang="zh-CN" altLang="en-US" sz="2400">
                <a:solidFill>
                  <a:schemeClr val="bg2">
                    <a:lumMod val="50000"/>
                  </a:schemeClr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也就是说</a:t>
            </a:r>
            <a:r>
              <a:rPr lang="zh-CN" altLang="en-US" sz="2400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sym typeface="+mn-ea"/>
              </a:rPr>
              <a:t>雄性三花或玳瑁猫均发生染色体数目变异，且</a:t>
            </a:r>
            <a:r>
              <a:rPr lang="zh-CN" altLang="en-US" sz="2400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这</a:t>
            </a:r>
            <a:r>
              <a:rPr lang="en-US" altLang="zh-CN" sz="2400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0.2%</a:t>
            </a:r>
            <a:r>
              <a:rPr lang="zh-CN" altLang="en-US" sz="2400">
                <a:solidFill>
                  <a:srgbClr val="FF8810"/>
                </a:solidFill>
                <a:latin typeface="方正颜宋简体" panose="02000000000000000000" charset="-122"/>
                <a:ea typeface="方正颜宋简体" panose="02000000000000000000" charset="-122"/>
                <a:cs typeface="方正颜宋简体" panose="02000000000000000000" charset="-122"/>
              </a:rPr>
              <a:t>的三花或玳瑁公猫先天无法生育。</a:t>
            </a:r>
            <a:endParaRPr lang="zh-CN" altLang="en-US" sz="2400">
              <a:solidFill>
                <a:srgbClr val="FF8810"/>
              </a:solidFill>
              <a:latin typeface="方正颜宋简体" panose="02000000000000000000" charset="-122"/>
              <a:ea typeface="方正颜宋简体" panose="02000000000000000000" charset="-122"/>
              <a:cs typeface="方正颜宋简体" panose="020000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38125" y="149860"/>
            <a:ext cx="160528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800" dirty="0">
                <a:solidFill>
                  <a:srgbClr val="30B6AB"/>
                </a:solidFill>
                <a:effectLst>
                  <a:outerShdw blurRad="60007" dist="200025" dir="15000000" sy="30000" kx="-1800000" algn="bl" rotWithShape="0">
                    <a:prstClr val="black">
                      <a:alpha val="32000"/>
                    </a:prstClr>
                  </a:outerShdw>
                </a:effectLst>
                <a:latin typeface="方正宋刻本秀楷简体" panose="02000000000000000000" charset="-122"/>
                <a:ea typeface="方正宋刻本秀楷简体" panose="02000000000000000000" charset="-122"/>
                <a:sym typeface="+mn-ea"/>
              </a:rPr>
              <a:t>生物科学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4306254" y="2552700"/>
            <a:ext cx="7349469" cy="1676400"/>
            <a:chOff x="1286829" y="2300632"/>
            <a:chExt cx="7349469" cy="1676400"/>
          </a:xfrm>
        </p:grpSpPr>
        <p:grpSp>
          <p:nvGrpSpPr>
            <p:cNvPr id="5" name="组合 308"/>
            <p:cNvGrpSpPr/>
            <p:nvPr/>
          </p:nvGrpSpPr>
          <p:grpSpPr>
            <a:xfrm>
              <a:off x="2389485" y="2490486"/>
              <a:ext cx="6246813" cy="1409711"/>
              <a:chOff x="7922220" y="4961921"/>
              <a:chExt cx="12493625" cy="2819421"/>
            </a:xfrm>
          </p:grpSpPr>
          <p:sp>
            <p:nvSpPr>
              <p:cNvPr id="7" name="Object 309"/>
              <p:cNvSpPr txBox="1"/>
              <p:nvPr/>
            </p:nvSpPr>
            <p:spPr>
              <a:xfrm>
                <a:off x="7922220" y="4961921"/>
                <a:ext cx="12493625" cy="18288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zh-CN" altLang="en-US" sz="4000" dirty="0">
                    <a:solidFill>
                      <a:srgbClr val="30B6AB"/>
                    </a:solidFill>
                    <a:cs typeface="+mn-ea"/>
                    <a:sym typeface="+mn-lt"/>
                  </a:rPr>
                  <a:t>相关资料与文献</a:t>
                </a:r>
                <a:endParaRPr lang="zh-CN" altLang="en-US" sz="40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" name="Object 3010"/>
              <p:cNvSpPr txBox="1"/>
              <p:nvPr/>
            </p:nvSpPr>
            <p:spPr>
              <a:xfrm>
                <a:off x="8111386" y="6790742"/>
                <a:ext cx="7569199" cy="9906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>
                <a:lvl1pPr>
                  <a:lnSpc>
                    <a:spcPct val="111000"/>
                  </a:lnSpc>
                  <a:defRPr sz="3000" b="0" i="0">
                    <a:solidFill>
                      <a:schemeClr val="bg1">
                        <a:lumMod val="75000"/>
                      </a:schemeClr>
                    </a:solidFill>
                    <a:cs typeface="+mn-ea"/>
                  </a:defRPr>
                </a:lvl1pPr>
              </a:lstStyle>
              <a:p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lt"/>
                  </a:rPr>
                  <a:t>这里是对相关资料提供来源与参考文献的介绍！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lt"/>
                </a:endParaRPr>
              </a:p>
            </p:txBody>
          </p:sp>
          <p:sp>
            <p:nvSpPr>
              <p:cNvPr id="9" name="Object 3011"/>
              <p:cNvSpPr txBox="1"/>
              <p:nvPr/>
            </p:nvSpPr>
            <p:spPr>
              <a:xfrm>
                <a:off x="8111386" y="6157411"/>
                <a:ext cx="8359033" cy="635000"/>
              </a:xfrm>
              <a:prstGeom prst="rect">
                <a:avLst/>
              </a:prstGeom>
            </p:spPr>
            <p:txBody>
              <a:bodyPr vert="horz" rtlCol="0" anchor="t" anchorCtr="0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lang="en-US" altLang="zh-CN" sz="1600" dirty="0">
                    <a:solidFill>
                      <a:srgbClr val="30B6AB"/>
                    </a:solidFill>
                    <a:cs typeface="+mn-ea"/>
                    <a:sym typeface="+mn-lt"/>
                  </a:rPr>
                  <a:t>Relevant data and literature</a:t>
                </a:r>
                <a:endParaRPr lang="en-US" altLang="zh-CN" sz="1600" dirty="0">
                  <a:solidFill>
                    <a:srgbClr val="30B6AB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" name="Object 307"/>
            <p:cNvSpPr txBox="1"/>
            <p:nvPr/>
          </p:nvSpPr>
          <p:spPr>
            <a:xfrm>
              <a:off x="1286829" y="2300632"/>
              <a:ext cx="1629256" cy="1676400"/>
            </a:xfrm>
            <a:prstGeom prst="rect">
              <a:avLst/>
            </a:prstGeom>
          </p:spPr>
          <p:txBody>
            <a:bodyPr vert="horz" rtlCol="0" anchor="t" anchorCtr="0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zh-CN" sz="10000" dirty="0">
                  <a:solidFill>
                    <a:srgbClr val="30B6AB"/>
                  </a:solidFill>
                  <a:latin typeface="Agency FB" panose="020B0503020202020204" pitchFamily="34" charset="0"/>
                  <a:cs typeface="+mn-ea"/>
                  <a:sym typeface="+mn-lt"/>
                </a:rPr>
                <a:t>04</a:t>
              </a:r>
              <a:endParaRPr lang="zh-CN" altLang="en-US" sz="10000" dirty="0">
                <a:solidFill>
                  <a:srgbClr val="30B6AB"/>
                </a:solidFill>
                <a:latin typeface="Agency FB" panose="020B0503020202020204" pitchFamily="34" charset="0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109980" y="729615"/>
            <a:ext cx="9881870" cy="32918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>
                <a:solidFill>
                  <a:schemeClr val="bg2">
                    <a:lumMod val="50000"/>
                  </a:schemeClr>
                </a:solidFill>
              </a:rPr>
              <a:t>参考文献</a:t>
            </a:r>
            <a:endParaRPr lang="zh-CN" altLang="en-US" sz="2800">
              <a:solidFill>
                <a:schemeClr val="bg2">
                  <a:lumMod val="50000"/>
                </a:schemeClr>
              </a:solidFill>
            </a:endParaRPr>
          </a:p>
          <a:p>
            <a:endParaRPr lang="en-US" altLang="zh-CN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1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、猫咪花色分类及遗传大全https://zhuanlan.zhihu.com/p/62760975/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2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、猫的性状外观http://messybeast.com/colour-charts.htm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3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、为什么三花猫基本都是母的？https://www.zhihu.com/question/390517715?ivk_sa=1024320u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4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、DK猫百科，英国DK公司编著</a:t>
            </a:r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 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孙永华译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n-US" altLang="zh-CN">
                <a:solidFill>
                  <a:schemeClr val="bg2">
                    <a:lumMod val="50000"/>
                  </a:schemeClr>
                </a:solidFill>
              </a:rPr>
              <a:t>5</a:t>
            </a:r>
            <a:r>
              <a:rPr lang="zh-CN" altLang="en-US">
                <a:solidFill>
                  <a:schemeClr val="bg2">
                    <a:lumMod val="50000"/>
                  </a:schemeClr>
                </a:solidFill>
              </a:rPr>
              <a:t>、部分猫咪图片，https://imiao5.lofter.com/</a:t>
            </a:r>
            <a:endParaRPr lang="zh-CN" altLang="en-US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11245" y="5657215"/>
            <a:ext cx="464185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>
                <a:solidFill>
                  <a:srgbClr val="90E7E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</a:rPr>
              <a:t>动物是我们的朋友，请善待它们</a:t>
            </a:r>
            <a:r>
              <a:rPr lang="en-US" altLang="zh-CN" sz="2400">
                <a:solidFill>
                  <a:srgbClr val="90E7E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方正硬笔楷书简体" panose="03000509000000000000" charset="-122"/>
                <a:ea typeface="方正硬笔楷书简体" panose="03000509000000000000" charset="-122"/>
                <a:cs typeface="方正硬笔楷书简体" panose="03000509000000000000" charset="-122"/>
              </a:rPr>
              <a:t>~</a:t>
            </a:r>
            <a:endParaRPr lang="en-US" altLang="zh-CN" sz="2400">
              <a:solidFill>
                <a:srgbClr val="90E7E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方正硬笔楷书简体" panose="03000509000000000000" charset="-122"/>
              <a:ea typeface="方正硬笔楷书简体" panose="03000509000000000000" charset="-122"/>
              <a:cs typeface="方正硬笔楷书简体" panose="03000509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24555" y="2534920"/>
            <a:ext cx="5342890" cy="156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30B6AB"/>
                </a:solidFill>
              </a14:hiddenFill>
            </a:ext>
          </a:extLst>
        </p:spPr>
        <p:txBody>
          <a:bodyPr wrap="square" rtlCol="0">
            <a:spAutoFit/>
          </a:bodyPr>
          <a:p>
            <a:r>
              <a:rPr lang="zh-CN" altLang="en-US" sz="9600">
                <a:solidFill>
                  <a:srgbClr val="30B6AB"/>
                </a:solidFill>
                <a:effectLst>
                  <a:reflection blurRad="6350" stA="50000" endA="300" endPos="50000" dist="29997" dir="5400000" sy="-100000" algn="bl" rotWithShape="0"/>
                </a:effectLst>
                <a:latin typeface="SentyZHAO 新蒂赵孟頫" panose="03000600000000000000" charset="-122"/>
                <a:ea typeface="SentyZHAO 新蒂赵孟頫" panose="03000600000000000000" charset="-122"/>
              </a:rPr>
              <a:t>感谢观看！</a:t>
            </a:r>
            <a:endParaRPr lang="zh-CN" altLang="en-US" sz="9600">
              <a:solidFill>
                <a:srgbClr val="30B6AB"/>
              </a:solidFill>
              <a:effectLst>
                <a:reflection blurRad="6350" stA="50000" endA="300" endPos="50000" dist="29997" dir="5400000" sy="-100000" algn="bl" rotWithShape="0"/>
              </a:effectLst>
              <a:latin typeface="SentyZHAO 新蒂赵孟頫" panose="03000600000000000000" charset="-122"/>
              <a:ea typeface="SentyZHAO 新蒂赵孟頫" panose="030006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tags/tag1.xml><?xml version="1.0" encoding="utf-8"?>
<p:tagLst xmlns:p="http://schemas.openxmlformats.org/presentationml/2006/main">
  <p:tag name="COMMONDATA" val="eyJoZGlkIjoiMDg1MmJjNTdlZmE2MmY0YmIwODE2OTc0NWRlM2RlOTEifQ=="/>
  <p:tag name="KSO_WPP_MARK_KEY" val="fb60943f-7f69-4fc8-a9d3-c516e2f2c6b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演示</Application>
  <PresentationFormat>宽屏</PresentationFormat>
  <Paragraphs>158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14</vt:i4>
      </vt:variant>
    </vt:vector>
  </HeadingPairs>
  <TitlesOfParts>
    <vt:vector size="31" baseType="lpstr">
      <vt:lpstr>Arial</vt:lpstr>
      <vt:lpstr>宋体</vt:lpstr>
      <vt:lpstr>Wingdings</vt:lpstr>
      <vt:lpstr>方正粗金陵简体</vt:lpstr>
      <vt:lpstr>SentyZHAO 新蒂赵孟頫</vt:lpstr>
      <vt:lpstr>微软雅黑</vt:lpstr>
      <vt:lpstr>Calibri</vt:lpstr>
      <vt:lpstr>方正宋刻本秀楷简体</vt:lpstr>
      <vt:lpstr>Agency FB</vt:lpstr>
      <vt:lpstr>方正颜宋简体</vt:lpstr>
      <vt:lpstr>等线</vt:lpstr>
      <vt:lpstr>方正硬笔楷书简体</vt:lpstr>
      <vt:lpstr>Arial Unicode MS</vt:lpstr>
      <vt:lpstr>等线 Light</vt:lpstr>
      <vt:lpstr>Office 主题​​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为什么母猫才会同时拥有红黑两色？  在猫的细胞中，表现为黑色系颜色的【真黑素】由B/b/b'三个等位基因控制，位于常染色体上。 表达顺序为：B&gt;b&gt;b' BB、Bb、Bb' 表现为黑色； bb、bb' 表现为巧克力色； b'b' 表现为肉桂色； 但当红色基因R存在时，【真黑素】的合成受抑制，转而合成【褐黑色】表现为红色。红色控制基因R/r位于X染色体，和性别发生关联。 猫和众多哺乳动物一样，公母猫的性染色体是不同的，公猫为XY，母猫为XX。红色基因位于X染色体上非同源区段，在Y染色体上没有等位基因。这样公猫只能有一个红色基因，母猫会有两个。母猫的基因型若为Rr，那么就会同时表达出真黑素和褐黑素，外观上来看就同时拥有了黑色和红色。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君明月</cp:lastModifiedBy>
  <cp:revision>66</cp:revision>
  <dcterms:created xsi:type="dcterms:W3CDTF">2022-05-12T09:09:00Z</dcterms:created>
  <dcterms:modified xsi:type="dcterms:W3CDTF">2022-10-26T00:10:20Z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0F3889D78C264573B1ED45F5E88D791C</vt:lpwstr>
  </property>
  <property fmtid="{D5CDD505-2E9C-101B-9397-08002B2CF9AE}" pid="3" name="KSOProductBuildVer">
    <vt:lpwstr>2052-11.1.0.12598</vt:lpwstr>
  </property>
</Properties>
</file>